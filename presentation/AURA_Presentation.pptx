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2cadc9d-76a7-451b-ee27-27b741439841}">
          <p14:sldIdLst>
            <p14:sldId id="256"/>
            <p14:sldId id="257"/>
            <p14:sldId id="258"/>
          </p14:sldIdLst>
        </p14:section>
        <p14:section name="Design" id="{57664bd8-bdfd-8c66-7d32-d786db6af1f2}">
          <p14:sldIdLst>
            <p14:sldId id="259"/>
            <p14:sldId id="260"/>
            <p14:sldId id="261"/>
          </p14:sldIdLst>
        </p14:section>
        <p14:section name="Model" id="{ede7df2d-70bc-9a8b-203e-1a3120aba816}">
          <p14:sldIdLst>
            <p14:sldId id="262"/>
            <p14:sldId id="263"/>
          </p14:sldIdLst>
        </p14:section>
        <p14:section name="Results" id="{55af8a32-234e-968c-052f-eed859dfef88}">
          <p14:sldIdLst>
            <p14:sldId id="264"/>
            <p14:sldId id="265"/>
            <p14:sldId id="266"/>
          </p14:sldIdLst>
        </p14:section>
        <p14:section name="Implementation" id="{6d44f776-f523-8c23-4dd9-487473ca842a}">
          <p14:sldIdLst>
            <p14:sldId id="267"/>
            <p14:sldId id="268"/>
          </p14:sldIdLst>
        </p14:section>
        <p14:section name="Wrap-up" id="{c77c8791-5d88-95a0-5923-f606811804e0}">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3B33"/>
                </a:solidFill>
                <a:latin typeface="+mn-lt"/>
              </a:defRPr>
            </a:pPr>
            <a:r>
              <a:rPr sz="1400" b="0" i="0" u="none" strike="noStrike">
                <a:solidFill>
                  <a:srgbClr val="0F3B33"/>
                </a:solidFill>
                <a:latin typeface="+mn-lt"/>
              </a:rPr>
              <a:t>Test period, 11 Aug to 22 Oct 2019</a:t>
            </a:r>
          </a:p>
        </c:rich>
      </c:tx>
      <c:layout/>
      <c:overlay val="0"/>
    </c:title>
    <c:autoTitleDeleted val="0"/>
    <c:plotArea>
      <c:layout/>
      <c:barChart>
        <c:barDir val="col"/>
        <c:grouping val="clustered"/>
        <c:varyColors val="0"/>
        <c:ser>
          <c:idx val="0"/>
          <c:order val="0"/>
          <c:tx>
            <c:strRef>
              <c:f>Sheet1!$B$1</c:f>
              <c:strCache>
                <c:ptCount val="1"/>
                <c:pt idx="0">
                  <c:v>LSTM</c:v>
                </c:pt>
              </c:strCache>
            </c:strRef>
          </c:tx>
          <c:spPr>
            <a:solidFill>
              <a:srgbClr val="1F8A70"/>
            </a:solidFill>
            <a:effectLst/>
          </c:spPr>
          <c:invertIfNegative val="0"/>
          <c:dLbls>
            <c:numFmt formatCode="0.0" sourceLinked="0"/>
            <c:txPr>
              <a:bodyPr/>
              <a:lstStyle/>
              <a:p>
                <a:pPr>
                  <a:defRPr b="0" i="0" strike="noStrike" sz="1200" u="none">
                    <a:solidFill>
                      <a:srgbClr val="1B2A26"/>
                    </a:solidFill>
                    <a:latin typeface="+mn-lt"/>
                  </a:defRPr>
                </a:pPr>
              </a:p>
            </c:txPr>
            <c:showLegendKey val="0"/>
            <c:showVal val="1"/>
            <c:showCatName val="0"/>
            <c:showSerName val="0"/>
            <c:showPercent val="0"/>
            <c:showBubbleSize val="0"/>
            <c:showLeaderLines val="0"/>
          </c:dLbls>
          <c:cat>
            <c:multiLvlStrRef>
              <c:f>Sheet1!$A$2:$A$3</c:f>
              <c:multiLvlStrCache>
                <c:ptCount val="2"/>
                <c:lvl>
                  <c:pt idx="0">
                    <c:v>MAE (kW)</c:v>
                  </c:pt>
                  <c:pt idx="1">
                    <c:v>RMSE (kW)</c:v>
                  </c:pt>
                </c:lvl>
              </c:multiLvlStrCache>
            </c:multiLvlStrRef>
          </c:cat>
          <c:val>
            <c:numRef>
              <c:f>Sheet1!$B$2:$B$3</c:f>
              <c:numCache>
                <c:formatCode>General</c:formatCode>
                <c:ptCount val="2"/>
                <c:pt idx="0">
                  <c:v>35.9</c:v>
                </c:pt>
                <c:pt idx="1">
                  <c:v>48</c:v>
                </c:pt>
              </c:numCache>
            </c:numRef>
          </c:val>
        </c:ser>
        <c:ser>
          <c:idx val="1"/>
          <c:order val="1"/>
          <c:tx>
            <c:strRef>
              <c:f>Sheet1!$C$1</c:f>
              <c:strCache>
                <c:ptCount val="1"/>
                <c:pt idx="0">
                  <c:v>Same hour last week</c:v>
                </c:pt>
              </c:strCache>
            </c:strRef>
          </c:tx>
          <c:spPr>
            <a:solidFill>
              <a:srgbClr val="8A9A94"/>
            </a:solidFill>
            <a:effectLst/>
          </c:spPr>
          <c:invertIfNegative val="0"/>
          <c:dLbls>
            <c:numFmt formatCode="0.0" sourceLinked="0"/>
            <c:txPr>
              <a:bodyPr/>
              <a:lstStyle/>
              <a:p>
                <a:pPr>
                  <a:defRPr b="0" i="0" strike="noStrike" sz="1200" u="none">
                    <a:solidFill>
                      <a:srgbClr val="1B2A26"/>
                    </a:solidFill>
                    <a:latin typeface="+mn-lt"/>
                  </a:defRPr>
                </a:pPr>
              </a:p>
            </c:txPr>
            <c:showLegendKey val="0"/>
            <c:showVal val="1"/>
            <c:showCatName val="0"/>
            <c:showSerName val="0"/>
            <c:showPercent val="0"/>
            <c:showBubbleSize val="0"/>
            <c:showLeaderLines val="0"/>
          </c:dLbls>
          <c:cat>
            <c:multiLvlStrRef>
              <c:f>Sheet1!$A$2:$A$3</c:f>
              <c:multiLvlStrCache>
                <c:ptCount val="2"/>
                <c:lvl>
                  <c:pt idx="0">
                    <c:v>MAE (kW)</c:v>
                  </c:pt>
                  <c:pt idx="1">
                    <c:v>RMSE (kW)</c:v>
                  </c:pt>
                </c:lvl>
              </c:multiLvlStrCache>
            </c:multiLvlStrRef>
          </c:cat>
          <c:val>
            <c:numRef>
              <c:f>Sheet1!$C$2:$C$3</c:f>
              <c:numCache>
                <c:formatCode>General</c:formatCode>
                <c:ptCount val="2"/>
                <c:pt idx="0">
                  <c:v>44.9</c:v>
                </c:pt>
                <c:pt idx="1">
                  <c:v>83.3</c:v>
                </c:pt>
              </c:numCache>
            </c:numRef>
          </c:val>
        </c:ser>
        <c:dLbls>
          <c:numFmt formatCode="0.0" sourceLinked="0"/>
          <c:txPr>
            <a:bodyPr/>
            <a:lstStyle/>
            <a:p>
              <a:pPr>
                <a:defRPr b="0" i="0" strike="noStrike" sz="1200" u="none">
                  <a:solidFill>
                    <a:srgbClr val="1B2A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2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2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AURA: an AI-driven resource allocator that forecasts university demand and switches cloud capacity on and off, scheduling flexible work into low-carbon hours. Introduce the three team members and their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capacity is provisioned for the peak and left on. In the real university building data we use, average load is 250 kW while the peak is 892 kW, so anything sized for the peak sits at about 28 percent use on average. Demand is also predictable: weekdays versus nights, weekends and public holidays. That predictability is what AURA exploits.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objectives from our project proposal. The rest of the talk shows how each one maps onto what we built: the forecasting model covers 1 and 3, the scheduling simulation covers 2, 4 and 6, and the dashboard covers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Data from campus sensors and usage logs is ingested. Cognito and IAM handle identity, and REST APIs connect the pieces. The core is the demand forecasting model feeding a resource allocation engine and carbon-aware scheduling logic, which trigger scaling actions and alerts. Results are stored, monitored and shown on the admin dashboard. The AWS-specific version of this diagram is on the AWS services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open datasets. CU-BEMS is real metered data from a university building in Bangkok, which shows exactly the academic weekday, weekend and holiday cycles we target. After cleaning we keep 41,766 fifteen-minute steps where all seven floors reported, about 435 days. Be upfront about the gaps: Floor 6 stops on 22 October 2019 and Floor 3 has a gap of about 40 days. For carbon we use the UK Carbon Intensity API because it is free and gives real hourly values; the caveat is that it is not Thailand's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one-minute meter readings are summed per floor, averaged to 15 minutes, short gaps up to an hour are interpolated and any step where a floor is missing is dropped so that a dead meter never looks like low demand. For the model we resample to hourly and add cyclic time features, weekend and Thai public holiday flags, and last week's load at the same hour. Holiday flags were the single biggest improvement: on the 14 October holiday, the naive baseline expected a normal Monday peak of 661 kW, while our model forecast about 136 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has two inputs. An LSTM encoder reads the last 7 days hour by hour. A second branch takes what is already known about the next 24 hours: time of day, weekday, holidays and last week's load at the same time. Both are combined in a dense layer that outputs 24 hourly values. We split by date so the model is never tested on the past, and we chose the model size and lookback using the validation period only. We tried 32, 64 and 128 units and 3, 7 and 14 day lookbacks; 128 units with 7 days was the best on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test period the LSTM's average error is 35.9 kW against 44.9 kW for predicting the same hour last week, 20 percent lower, and its RMSE is 42 percent lower, which means far fewer large misses. Be honest that our first version, without holiday and future inputs, scored 46.8 kW and lost to the baseline; the improvement came from features, not a bigger network. The plot shows the training curve and day-by-day test forecasts against actual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AURA policy, simulated hour by hour over the test period. Each midnight the model forecasts the next day. We keep just enough servers on for the forecast plus a safety margin of 25 percent and 4 spare servers. Twenty percent of each day's work, such as backups and research batch jobs, can wait, so it is placed in the hours when the grid is cleanest. At run time interactive users always come first; if real demand beats the forecast we scale up and count that hour as an SLA miss. The baseline keeps all 48 servers on all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1,704 hours of the test period, AURA used 39.5 percent less data-center energy than always-on servers: 12,674 against 20,955 kilowatt-hours. Emissions fall 41.3 percent, or 1,589 kilograms of CO2, and the cost saving is 993 dollars 71 at 12 cents per kilowatt-hour. 99.53 percent of hours had enough capacity. The carbon-aware part contributes 2.3 points: with batch shifting switched off, carbon falls 39.0 percent instead of 41.3. The plot shows the last simulated week: demand against forecast, servers on, batch work landing in low-carbon hours, and energy against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the limits. This is a simulation: the building's electrical load stands in for server demand, and the fleet size, idle power, PUE and deferrable share are assumptions we chose, not measurements. The carbon data is real but from the UK grid. The safety margin was chosen on the validation period, June to August 2019, with the rule: highest saving that keeps SLA at or above 99.5 percent. That picked 25 percent plus 4 spare servers, which we froze before running the test period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a Node.js Express API with five endpoints. It verifies Cognito tokens and reads from a single DynamoDB table called AURA, keyed by record type and id; locally it reads the simulation's JSON files. The screenshot is the real dashboard running against this API: the savings cards, the AURA versus baseline chart with grid carbon intensity, and the next-24-hour forecast. Note the forecast for 23 October predicts a quiet morning: that is Chulalongkorn Day, a Thai public holiday.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planned AWS architecture is on top. What we have written as infrastructure code is the CloudFormation stack: DynamoDB with a stream, a Cognito user pool, SNS with a Lambda that emails warning and critical alerts, a CloudWatch alarm, an S3 website bucket for the dashboard, and an EC2 instance running the API. Be explicit: the template passes cfn-lint but has not been deployed to a real account yet. API Gateway and SageMaker from the diagram are not in the stack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is that savings are simulated on a proxy: building load standing in for server demand, with UK carbon data. Next steps are real data-center traces, local grid carbon data, HTTPS for both the dashboard and the API, hosting the model on SageMaker with a scheduled Lambda, an actual deployment that measures savings, and the academic calendar itself as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crediting each team member's area as in our work distribution, and the two open datasets we relied on.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URA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520440"/>
            <a:ext cx="11094415" cy="109728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URA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AURA  |  BCSE355L Cloud Architecture Design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3.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280160"/>
          </a:xfrm>
          <a:prstGeom prst="rect">
            <a:avLst/>
          </a:prstGeom>
          <a:noFill/>
          <a:ln/>
        </p:spPr>
        <p:txBody>
          <a:bodyPr wrap="square" rtlCol="0" anchor="b"/>
          <a:lstStyle/>
          <a:p>
            <a:pPr algn="l" indent="0" marL="0">
              <a:buNone/>
            </a:pPr>
            <a:r>
              <a:rPr lang="en-US" sz="4400" b="1" dirty="0">
                <a:solidFill>
                  <a:schemeClr val="bg1"/>
                </a:solidFill>
              </a:rPr>
              <a:t>AURA</a:t>
            </a:r>
            <a:endParaRPr lang="en-US" sz="4400" dirty="0"/>
          </a:p>
        </p:txBody>
      </p:sp>
      <p:sp>
        <p:nvSpPr>
          <p:cNvPr id="3" name="Text 0"/>
          <p:cNvSpPr/>
          <p:nvPr>
            <p:ph idx="101" type="body" hasCustomPrompt="1"/>
          </p:nvPr>
        </p:nvSpPr>
        <p:spPr>
          <a:xfrm>
            <a:off x="548640" y="3520440"/>
            <a:ext cx="11094415" cy="1097280"/>
          </a:xfrm>
          <a:prstGeom prst="rect">
            <a:avLst/>
          </a:prstGeom>
          <a:noFill/>
          <a:ln/>
        </p:spPr>
        <p:txBody>
          <a:bodyPr wrap="square" rtlCol="0" anchor="t"/>
          <a:lstStyle/>
          <a:p>
            <a:pPr algn="l" indent="0" marL="0">
              <a:buNone/>
            </a:pPr>
            <a:r>
              <a:rPr lang="en-US" sz="2000" dirty="0">
                <a:solidFill>
                  <a:schemeClr val="accent6"/>
                </a:solidFill>
              </a:rPr>
              <a:t>Autonomous University Resource Allocator: green cloud resource optimization for smart university data centers</a:t>
            </a:r>
            <a:endParaRPr lang="en-US" sz="2000" dirty="0"/>
          </a:p>
        </p:txBody>
      </p:sp>
      <p:sp>
        <p:nvSpPr>
          <p:cNvPr id="4" name="icon-circle-1"/>
          <p:cNvSpPr/>
          <p:nvPr/>
        </p:nvSpPr>
        <p:spPr>
          <a:xfrm>
            <a:off x="548640" y="1005840"/>
            <a:ext cx="822960" cy="822960"/>
          </a:xfrm>
          <a:prstGeom prst="ellipse">
            <a:avLst/>
          </a:prstGeom>
          <a:solidFill>
            <a:schemeClr val="accent1"/>
          </a:solidFill>
          <a:ln/>
        </p:spPr>
      </p:sp>
      <p:pic>
        <p:nvPicPr>
          <p:cNvPr id="5" name="icon-2" descr="preencoded.png">    </p:cNvPr>
          <p:cNvPicPr>
            <a:picLocks noChangeAspect="1"/>
          </p:cNvPicPr>
          <p:nvPr/>
        </p:nvPicPr>
        <p:blipFill>
          <a:blip r:embed="rId1"/>
          <a:stretch>
            <a:fillRect/>
          </a:stretch>
        </p:blipFill>
        <p:spPr>
          <a:xfrm>
            <a:off x="754380" y="1211580"/>
            <a:ext cx="411480" cy="411480"/>
          </a:xfrm>
          <a:prstGeom prst="rect">
            <a:avLst/>
          </a:prstGeom>
        </p:spPr>
      </p:pic>
      <p:sp>
        <p:nvSpPr>
          <p:cNvPr id="6" name="Text 3"/>
          <p:cNvSpPr txBox="1"/>
          <p:nvPr/>
        </p:nvSpPr>
        <p:spPr>
          <a:xfrm>
            <a:off x="548640" y="5120640"/>
            <a:ext cx="11094415" cy="822960"/>
          </a:xfrm>
          <a:prstGeom prst="rect">
            <a:avLst/>
          </a:prstGeom>
          <a:noFill/>
          <a:ln/>
        </p:spPr>
        <p:txBody>
          <a:bodyPr wrap="square" lIns="0" tIns="0" rIns="0" bIns="0" rtlCol="0" anchor="ctr"/>
          <a:lstStyle/>
          <a:p>
            <a:pPr indent="0" marL="0">
              <a:spcAft>
                <a:spcPts val="600"/>
              </a:spcAft>
              <a:buNone/>
            </a:pPr>
            <a:r>
              <a:rPr lang="en-US" sz="1400" b="1" dirty="0">
                <a:solidFill>
                  <a:schemeClr val="bg1"/>
                </a:solidFill>
              </a:rPr>
              <a:t>BCSE355L Cloud Architecture Design  |  Dr. Priya V  |  2026-2027</a:t>
            </a:r>
            <a:endParaRPr lang="en-US" sz="1400" dirty="0"/>
          </a:p>
          <a:p>
            <a:pPr indent="0" marL="0">
              <a:spcAft>
                <a:spcPts val="600"/>
              </a:spcAft>
              <a:buNone/>
            </a:pPr>
            <a:r>
              <a:rPr lang="en-US" sz="1400" dirty="0">
                <a:solidFill>
                  <a:schemeClr val="bg1"/>
                </a:solidFill>
              </a:rPr>
              <a:t>Pranav Hasban (24BIT0537) Frontend   |   Prakul Jain (24BIT0548) Backend &amp; Database   |   Agrani Anupam (24BIT0539) AI / ML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Static infrastructure is sized for a peak it rarely hits</a:t>
            </a:r>
            <a:endParaRPr lang="en-US" sz="3200" dirty="0"/>
          </a:p>
        </p:txBody>
      </p:sp>
      <p:sp>
        <p:nvSpPr>
          <p:cNvPr id="3" name="Text 1"/>
          <p:cNvSpPr txBox="1"/>
          <p:nvPr/>
        </p:nvSpPr>
        <p:spPr>
          <a:xfrm>
            <a:off x="548640" y="1371600"/>
            <a:ext cx="6035040" cy="4206240"/>
          </a:xfrm>
          <a:prstGeom prst="rect">
            <a:avLst/>
          </a:prstGeom>
          <a:noFill/>
          <a:ln/>
        </p:spPr>
        <p:txBody>
          <a:bodyPr wrap="square" rtlCol="0" anchor="t"/>
          <a:lstStyle/>
          <a:p>
            <a:pPr marL="342900" indent="-342900">
              <a:spcAft>
                <a:spcPts val="800"/>
              </a:spcAft>
              <a:buSzPct val="100000"/>
              <a:buChar char="•"/>
            </a:pPr>
            <a:r>
              <a:rPr lang="en-US" sz="1800" dirty="0">
                <a:solidFill>
                  <a:schemeClr val="tx1"/>
                </a:solidFill>
              </a:rPr>
              <a:t>University data centers run LMS, research computing and campus IoT on static, over-provisioned capacity</a:t>
            </a:r>
            <a:endParaRPr lang="en-US" sz="1800" dirty="0"/>
          </a:p>
          <a:p>
            <a:pPr marL="342900" indent="-342900">
              <a:spcAft>
                <a:spcPts val="800"/>
              </a:spcAft>
              <a:buSzPct val="100000"/>
              <a:buChar char="•"/>
            </a:pPr>
            <a:r>
              <a:rPr lang="en-US" sz="1800" dirty="0">
                <a:solidFill>
                  <a:schemeClr val="tx1"/>
                </a:solidFill>
              </a:rPr>
              <a:t>Demand follows the academic calendar: busy weekdays, quiet nights, weekends and holidays</a:t>
            </a:r>
            <a:endParaRPr lang="en-US" sz="1800" dirty="0"/>
          </a:p>
          <a:p>
            <a:pPr marL="342900" indent="-342900">
              <a:spcAft>
                <a:spcPts val="800"/>
              </a:spcAft>
              <a:buSzPct val="100000"/>
              <a:buChar char="•"/>
            </a:pPr>
            <a:r>
              <a:rPr lang="en-US" sz="1800" dirty="0">
                <a:solidFill>
                  <a:schemeClr val="tx1"/>
                </a:solidFill>
              </a:rPr>
              <a:t>Idle servers still draw a large share of their peak power, so unused capacity wastes energy and money</a:t>
            </a:r>
            <a:endParaRPr lang="en-US" sz="1800" dirty="0"/>
          </a:p>
          <a:p>
            <a:pPr marL="342900" indent="-342900">
              <a:spcAft>
                <a:spcPts val="800"/>
              </a:spcAft>
              <a:buSzPct val="100000"/>
              <a:buChar char="•"/>
            </a:pPr>
            <a:r>
              <a:rPr lang="en-US" sz="1800" dirty="0">
                <a:solidFill>
                  <a:schemeClr val="tx1"/>
                </a:solidFill>
              </a:rPr>
              <a:t>Existing green-cloud work targets enterprise and IoT workloads, not academic cycles</a:t>
            </a:r>
            <a:endParaRPr lang="en-US" sz="1800" dirty="0"/>
          </a:p>
        </p:txBody>
      </p:sp>
      <p:sp>
        <p:nvSpPr>
          <p:cNvPr id="4" name="card-3"/>
          <p:cNvSpPr/>
          <p:nvPr/>
        </p:nvSpPr>
        <p:spPr>
          <a:xfrm>
            <a:off x="7132320" y="1371600"/>
            <a:ext cx="4507992" cy="4206240"/>
          </a:xfrm>
          <a:prstGeom prst="roundRect">
            <a:avLst>
              <a:gd name="adj" fmla="val 2609"/>
            </a:avLst>
          </a:prstGeom>
          <a:solidFill>
            <a:schemeClr val="bg2"/>
          </a:solidFill>
          <a:ln/>
        </p:spPr>
      </p:sp>
      <p:sp>
        <p:nvSpPr>
          <p:cNvPr id="5" name="Text 3"/>
          <p:cNvSpPr txBox="1"/>
          <p:nvPr/>
        </p:nvSpPr>
        <p:spPr>
          <a:xfrm>
            <a:off x="7406640" y="1645920"/>
            <a:ext cx="3931920" cy="1280160"/>
          </a:xfrm>
          <a:prstGeom prst="rect">
            <a:avLst/>
          </a:prstGeom>
          <a:noFill/>
          <a:ln/>
        </p:spPr>
        <p:txBody>
          <a:bodyPr wrap="square" lIns="0" tIns="0" rIns="0" bIns="0" rtlCol="0" anchor="ctr"/>
          <a:lstStyle/>
          <a:p>
            <a:pPr indent="0" marL="0">
              <a:buNone/>
            </a:pPr>
            <a:r>
              <a:rPr lang="en-US" sz="7200" b="1" dirty="0">
                <a:solidFill>
                  <a:schemeClr val="accent1"/>
                </a:solidFill>
                <a:latin typeface="Cambria" pitchFamily="34" charset="0"/>
                <a:ea typeface="Cambria" pitchFamily="34" charset="-122"/>
                <a:cs typeface="Cambria" pitchFamily="34" charset="-120"/>
              </a:rPr>
              <a:t>28%</a:t>
            </a:r>
            <a:endParaRPr lang="en-US" sz="7200" dirty="0"/>
          </a:p>
        </p:txBody>
      </p:sp>
      <p:sp>
        <p:nvSpPr>
          <p:cNvPr id="6" name="Text 4"/>
          <p:cNvSpPr txBox="1"/>
          <p:nvPr/>
        </p:nvSpPr>
        <p:spPr>
          <a:xfrm>
            <a:off x="7406640" y="2926080"/>
            <a:ext cx="3931920" cy="548640"/>
          </a:xfrm>
          <a:prstGeom prst="rect">
            <a:avLst/>
          </a:prstGeom>
          <a:noFill/>
          <a:ln/>
        </p:spPr>
        <p:txBody>
          <a:bodyPr wrap="square" lIns="0" tIns="0" rIns="0" bIns="0" rtlCol="0" anchor="ctr"/>
          <a:lstStyle/>
          <a:p>
            <a:pPr indent="0" marL="0">
              <a:buNone/>
            </a:pPr>
            <a:r>
              <a:rPr lang="en-US" sz="1600" b="1" dirty="0">
                <a:solidFill>
                  <a:schemeClr val="tx2"/>
                </a:solidFill>
              </a:rPr>
              <a:t>average use of capacity sized for peak</a:t>
            </a:r>
            <a:endParaRPr lang="en-US" sz="1600" dirty="0"/>
          </a:p>
        </p:txBody>
      </p:sp>
      <p:sp>
        <p:nvSpPr>
          <p:cNvPr id="7" name="Text 5"/>
          <p:cNvSpPr txBox="1"/>
          <p:nvPr/>
        </p:nvSpPr>
        <p:spPr>
          <a:xfrm>
            <a:off x="7406640" y="3611880"/>
            <a:ext cx="3931920" cy="1463040"/>
          </a:xfrm>
          <a:prstGeom prst="rect">
            <a:avLst/>
          </a:prstGeom>
          <a:noFill/>
          <a:ln/>
        </p:spPr>
        <p:txBody>
          <a:bodyPr wrap="square" lIns="0" tIns="0" rIns="0" bIns="0" rtlCol="0" anchor="ctr"/>
          <a:lstStyle/>
          <a:p>
            <a:pPr indent="0" marL="0">
              <a:buNone/>
            </a:pPr>
            <a:r>
              <a:rPr lang="en-US" sz="1400" dirty="0">
                <a:solidFill>
                  <a:schemeClr val="tx1"/>
                </a:solidFill>
              </a:rPr>
              <a:t>CU-BEMS university building, Jul 2018 to Oct 2019: average load 250 kW against a peak of 892 kW (15-minute data).</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Objectives</a:t>
            </a:r>
            <a:endParaRPr lang="en-US" sz="3200" dirty="0"/>
          </a:p>
        </p:txBody>
      </p:sp>
      <p:sp>
        <p:nvSpPr>
          <p:cNvPr id="3" name="card-4"/>
          <p:cNvSpPr/>
          <p:nvPr/>
        </p:nvSpPr>
        <p:spPr>
          <a:xfrm>
            <a:off x="548640" y="1325880"/>
            <a:ext cx="3454298" cy="2148840"/>
          </a:xfrm>
          <a:prstGeom prst="roundRect">
            <a:avLst>
              <a:gd name="adj" fmla="val 5106"/>
            </a:avLst>
          </a:prstGeom>
          <a:solidFill>
            <a:schemeClr val="bg2"/>
          </a:solidFill>
          <a:ln/>
        </p:spPr>
      </p:sp>
      <p:sp>
        <p:nvSpPr>
          <p:cNvPr id="4" name="icon-circle-5"/>
          <p:cNvSpPr/>
          <p:nvPr/>
        </p:nvSpPr>
        <p:spPr>
          <a:xfrm>
            <a:off x="822960" y="1600200"/>
            <a:ext cx="640080" cy="640080"/>
          </a:xfrm>
          <a:prstGeom prst="ellipse">
            <a:avLst/>
          </a:prstGeom>
          <a:solidFill>
            <a:schemeClr val="accent1"/>
          </a:solidFill>
          <a:ln/>
        </p:spPr>
      </p:sp>
      <p:pic>
        <p:nvPicPr>
          <p:cNvPr id="5" name="icon-6" descr="preencoded.png">    </p:cNvPr>
          <p:cNvPicPr>
            <a:picLocks noChangeAspect="1"/>
          </p:cNvPicPr>
          <p:nvPr/>
        </p:nvPicPr>
        <p:blipFill>
          <a:blip r:embed="rId1"/>
          <a:stretch>
            <a:fillRect/>
          </a:stretch>
        </p:blipFill>
        <p:spPr>
          <a:xfrm>
            <a:off x="982980" y="1760220"/>
            <a:ext cx="320040" cy="320040"/>
          </a:xfrm>
          <a:prstGeom prst="rect">
            <a:avLst/>
          </a:prstGeom>
        </p:spPr>
      </p:pic>
      <p:sp>
        <p:nvSpPr>
          <p:cNvPr id="6" name="Text 3"/>
          <p:cNvSpPr txBox="1"/>
          <p:nvPr/>
        </p:nvSpPr>
        <p:spPr>
          <a:xfrm>
            <a:off x="1600200" y="1600200"/>
            <a:ext cx="2174138" cy="640080"/>
          </a:xfrm>
          <a:prstGeom prst="rect">
            <a:avLst/>
          </a:prstGeom>
          <a:noFill/>
          <a:ln/>
        </p:spPr>
        <p:txBody>
          <a:bodyPr wrap="square" lIns="0" tIns="0" rIns="0" bIns="0" rtlCol="0" anchor="ctr"/>
          <a:lstStyle/>
          <a:p>
            <a:pPr indent="0" marL="0">
              <a:buNone/>
            </a:pPr>
            <a:r>
              <a:rPr lang="en-US" sz="1700" b="1" dirty="0">
                <a:solidFill>
                  <a:schemeClr val="tx2"/>
                </a:solidFill>
              </a:rPr>
              <a:t>AI-driven allocation</a:t>
            </a:r>
            <a:endParaRPr lang="en-US" sz="1700" dirty="0"/>
          </a:p>
        </p:txBody>
      </p:sp>
      <p:sp>
        <p:nvSpPr>
          <p:cNvPr id="7" name="Text 4"/>
          <p:cNvSpPr txBox="1"/>
          <p:nvPr/>
        </p:nvSpPr>
        <p:spPr>
          <a:xfrm>
            <a:off x="822960" y="2377440"/>
            <a:ext cx="2905658" cy="914400"/>
          </a:xfrm>
          <a:prstGeom prst="rect">
            <a:avLst/>
          </a:prstGeom>
          <a:noFill/>
          <a:ln/>
        </p:spPr>
        <p:txBody>
          <a:bodyPr wrap="square" lIns="0" tIns="0" rIns="0" bIns="0" rtlCol="0" anchor="t"/>
          <a:lstStyle/>
          <a:p>
            <a:pPr indent="0" marL="0">
              <a:buNone/>
            </a:pPr>
            <a:r>
              <a:rPr lang="en-US" sz="1400" dirty="0">
                <a:solidFill>
                  <a:schemeClr val="tx1"/>
                </a:solidFill>
              </a:rPr>
              <a:t>Resource allocation framework for university data-center workloads</a:t>
            </a:r>
            <a:endParaRPr lang="en-US" sz="1400" dirty="0"/>
          </a:p>
        </p:txBody>
      </p:sp>
      <p:sp>
        <p:nvSpPr>
          <p:cNvPr id="8" name="card-7"/>
          <p:cNvSpPr/>
          <p:nvPr/>
        </p:nvSpPr>
        <p:spPr>
          <a:xfrm>
            <a:off x="4368698" y="1325880"/>
            <a:ext cx="3454298" cy="2148840"/>
          </a:xfrm>
          <a:prstGeom prst="roundRect">
            <a:avLst>
              <a:gd name="adj" fmla="val 5106"/>
            </a:avLst>
          </a:prstGeom>
          <a:solidFill>
            <a:schemeClr val="bg2"/>
          </a:solidFill>
          <a:ln/>
        </p:spPr>
      </p:sp>
      <p:sp>
        <p:nvSpPr>
          <p:cNvPr id="9" name="icon-circle-8"/>
          <p:cNvSpPr/>
          <p:nvPr/>
        </p:nvSpPr>
        <p:spPr>
          <a:xfrm>
            <a:off x="4643018" y="1600200"/>
            <a:ext cx="640080" cy="640080"/>
          </a:xfrm>
          <a:prstGeom prst="ellipse">
            <a:avLst/>
          </a:prstGeom>
          <a:solidFill>
            <a:schemeClr val="accent1"/>
          </a:solidFill>
          <a:ln/>
        </p:spPr>
      </p:sp>
      <p:pic>
        <p:nvPicPr>
          <p:cNvPr id="10" name="icon-9" descr="preencoded.png">    </p:cNvPr>
          <p:cNvPicPr>
            <a:picLocks noChangeAspect="1"/>
          </p:cNvPicPr>
          <p:nvPr/>
        </p:nvPicPr>
        <p:blipFill>
          <a:blip r:embed="rId2"/>
          <a:stretch>
            <a:fillRect/>
          </a:stretch>
        </p:blipFill>
        <p:spPr>
          <a:xfrm>
            <a:off x="4803038" y="1760220"/>
            <a:ext cx="320040" cy="320040"/>
          </a:xfrm>
          <a:prstGeom prst="rect">
            <a:avLst/>
          </a:prstGeom>
        </p:spPr>
      </p:pic>
      <p:sp>
        <p:nvSpPr>
          <p:cNvPr id="11" name="Text 7"/>
          <p:cNvSpPr txBox="1"/>
          <p:nvPr/>
        </p:nvSpPr>
        <p:spPr>
          <a:xfrm>
            <a:off x="5420258" y="1600200"/>
            <a:ext cx="2174138" cy="640080"/>
          </a:xfrm>
          <a:prstGeom prst="rect">
            <a:avLst/>
          </a:prstGeom>
          <a:noFill/>
          <a:ln/>
        </p:spPr>
        <p:txBody>
          <a:bodyPr wrap="square" lIns="0" tIns="0" rIns="0" bIns="0" rtlCol="0" anchor="ctr"/>
          <a:lstStyle/>
          <a:p>
            <a:pPr indent="0" marL="0">
              <a:buNone/>
            </a:pPr>
            <a:r>
              <a:rPr lang="en-US" sz="1700" b="1" dirty="0">
                <a:solidFill>
                  <a:schemeClr val="tx2"/>
                </a:solidFill>
              </a:rPr>
              <a:t>Less energy and carbon</a:t>
            </a:r>
            <a:endParaRPr lang="en-US" sz="1700" dirty="0"/>
          </a:p>
        </p:txBody>
      </p:sp>
      <p:sp>
        <p:nvSpPr>
          <p:cNvPr id="12" name="Text 8"/>
          <p:cNvSpPr txBox="1"/>
          <p:nvPr/>
        </p:nvSpPr>
        <p:spPr>
          <a:xfrm>
            <a:off x="4643018" y="2377440"/>
            <a:ext cx="2905658" cy="914400"/>
          </a:xfrm>
          <a:prstGeom prst="rect">
            <a:avLst/>
          </a:prstGeom>
          <a:noFill/>
          <a:ln/>
        </p:spPr>
        <p:txBody>
          <a:bodyPr wrap="square" lIns="0" tIns="0" rIns="0" bIns="0" rtlCol="0" anchor="t"/>
          <a:lstStyle/>
          <a:p>
            <a:pPr indent="0" marL="0">
              <a:buNone/>
            </a:pPr>
            <a:r>
              <a:rPr lang="en-US" sz="1400" dirty="0">
                <a:solidFill>
                  <a:schemeClr val="tx1"/>
                </a:solidFill>
              </a:rPr>
              <a:t>Reduce the energy use and carbon footprint of university cloud infrastructure on AWS</a:t>
            </a:r>
            <a:endParaRPr lang="en-US" sz="1400" dirty="0"/>
          </a:p>
        </p:txBody>
      </p:sp>
      <p:sp>
        <p:nvSpPr>
          <p:cNvPr id="13" name="card-10"/>
          <p:cNvSpPr/>
          <p:nvPr/>
        </p:nvSpPr>
        <p:spPr>
          <a:xfrm>
            <a:off x="8188757" y="1325880"/>
            <a:ext cx="3454298" cy="2148840"/>
          </a:xfrm>
          <a:prstGeom prst="roundRect">
            <a:avLst>
              <a:gd name="adj" fmla="val 5106"/>
            </a:avLst>
          </a:prstGeom>
          <a:solidFill>
            <a:schemeClr val="bg2"/>
          </a:solidFill>
          <a:ln/>
        </p:spPr>
      </p:sp>
      <p:sp>
        <p:nvSpPr>
          <p:cNvPr id="14" name="icon-circle-11"/>
          <p:cNvSpPr/>
          <p:nvPr/>
        </p:nvSpPr>
        <p:spPr>
          <a:xfrm>
            <a:off x="8463077" y="1600200"/>
            <a:ext cx="640080" cy="640080"/>
          </a:xfrm>
          <a:prstGeom prst="ellipse">
            <a:avLst/>
          </a:prstGeom>
          <a:solidFill>
            <a:schemeClr val="accent1"/>
          </a:solidFill>
          <a:ln/>
        </p:spPr>
      </p:sp>
      <p:pic>
        <p:nvPicPr>
          <p:cNvPr id="15" name="icon-12" descr="preencoded.png">    </p:cNvPr>
          <p:cNvPicPr>
            <a:picLocks noChangeAspect="1"/>
          </p:cNvPicPr>
          <p:nvPr/>
        </p:nvPicPr>
        <p:blipFill>
          <a:blip r:embed="rId3"/>
          <a:stretch>
            <a:fillRect/>
          </a:stretch>
        </p:blipFill>
        <p:spPr>
          <a:xfrm>
            <a:off x="8623097" y="1760220"/>
            <a:ext cx="320040" cy="320040"/>
          </a:xfrm>
          <a:prstGeom prst="rect">
            <a:avLst/>
          </a:prstGeom>
        </p:spPr>
      </p:pic>
      <p:sp>
        <p:nvSpPr>
          <p:cNvPr id="16" name="Text 11"/>
          <p:cNvSpPr txBox="1"/>
          <p:nvPr/>
        </p:nvSpPr>
        <p:spPr>
          <a:xfrm>
            <a:off x="9240317" y="1600200"/>
            <a:ext cx="2174138" cy="640080"/>
          </a:xfrm>
          <a:prstGeom prst="rect">
            <a:avLst/>
          </a:prstGeom>
          <a:noFill/>
          <a:ln/>
        </p:spPr>
        <p:txBody>
          <a:bodyPr wrap="square" lIns="0" tIns="0" rIns="0" bIns="0" rtlCol="0" anchor="ctr"/>
          <a:lstStyle/>
          <a:p>
            <a:pPr indent="0" marL="0">
              <a:buNone/>
            </a:pPr>
            <a:r>
              <a:rPr lang="en-US" sz="1700" b="1" dirty="0">
                <a:solidFill>
                  <a:schemeClr val="tx2"/>
                </a:solidFill>
              </a:rPr>
              <a:t>Calendar-aware forecasts</a:t>
            </a:r>
            <a:endParaRPr lang="en-US" sz="1700" dirty="0"/>
          </a:p>
        </p:txBody>
      </p:sp>
      <p:sp>
        <p:nvSpPr>
          <p:cNvPr id="17" name="Text 12"/>
          <p:cNvSpPr txBox="1"/>
          <p:nvPr/>
        </p:nvSpPr>
        <p:spPr>
          <a:xfrm>
            <a:off x="8463077" y="2377440"/>
            <a:ext cx="2905658" cy="914400"/>
          </a:xfrm>
          <a:prstGeom prst="rect">
            <a:avLst/>
          </a:prstGeom>
          <a:noFill/>
          <a:ln/>
        </p:spPr>
        <p:txBody>
          <a:bodyPr wrap="square" lIns="0" tIns="0" rIns="0" bIns="0" rtlCol="0" anchor="t"/>
          <a:lstStyle/>
          <a:p>
            <a:pPr indent="0" marL="0">
              <a:buNone/>
            </a:pPr>
            <a:r>
              <a:rPr lang="en-US" sz="1400" dirty="0">
                <a:solidFill>
                  <a:schemeClr val="tx1"/>
                </a:solidFill>
              </a:rPr>
              <a:t>Predict academic demand cycles (semester start, exams, breaks) for proactive scaling</a:t>
            </a:r>
            <a:endParaRPr lang="en-US" sz="1400" dirty="0"/>
          </a:p>
        </p:txBody>
      </p:sp>
      <p:sp>
        <p:nvSpPr>
          <p:cNvPr id="18" name="card-13"/>
          <p:cNvSpPr/>
          <p:nvPr/>
        </p:nvSpPr>
        <p:spPr>
          <a:xfrm>
            <a:off x="548640" y="3794760"/>
            <a:ext cx="3454298" cy="2148840"/>
          </a:xfrm>
          <a:prstGeom prst="roundRect">
            <a:avLst>
              <a:gd name="adj" fmla="val 5106"/>
            </a:avLst>
          </a:prstGeom>
          <a:solidFill>
            <a:schemeClr val="bg2"/>
          </a:solidFill>
          <a:ln/>
        </p:spPr>
      </p:sp>
      <p:sp>
        <p:nvSpPr>
          <p:cNvPr id="19" name="icon-circle-14"/>
          <p:cNvSpPr/>
          <p:nvPr/>
        </p:nvSpPr>
        <p:spPr>
          <a:xfrm>
            <a:off x="822960" y="4069080"/>
            <a:ext cx="640080" cy="640080"/>
          </a:xfrm>
          <a:prstGeom prst="ellipse">
            <a:avLst/>
          </a:prstGeom>
          <a:solidFill>
            <a:schemeClr val="accent1"/>
          </a:solidFill>
          <a:ln/>
        </p:spPr>
      </p:sp>
      <p:pic>
        <p:nvPicPr>
          <p:cNvPr id="20" name="icon-15" descr="preencoded.png">    </p:cNvPr>
          <p:cNvPicPr>
            <a:picLocks noChangeAspect="1"/>
          </p:cNvPicPr>
          <p:nvPr/>
        </p:nvPicPr>
        <p:blipFill>
          <a:blip r:embed="rId4"/>
          <a:stretch>
            <a:fillRect/>
          </a:stretch>
        </p:blipFill>
        <p:spPr>
          <a:xfrm>
            <a:off x="982980" y="4229100"/>
            <a:ext cx="320040" cy="320040"/>
          </a:xfrm>
          <a:prstGeom prst="rect">
            <a:avLst/>
          </a:prstGeom>
        </p:spPr>
      </p:pic>
      <p:sp>
        <p:nvSpPr>
          <p:cNvPr id="21" name="Text 15"/>
          <p:cNvSpPr txBox="1"/>
          <p:nvPr/>
        </p:nvSpPr>
        <p:spPr>
          <a:xfrm>
            <a:off x="1600200" y="4069080"/>
            <a:ext cx="2174138" cy="640080"/>
          </a:xfrm>
          <a:prstGeom prst="rect">
            <a:avLst/>
          </a:prstGeom>
          <a:noFill/>
          <a:ln/>
        </p:spPr>
        <p:txBody>
          <a:bodyPr wrap="square" lIns="0" tIns="0" rIns="0" bIns="0" rtlCol="0" anchor="ctr"/>
          <a:lstStyle/>
          <a:p>
            <a:pPr indent="0" marL="0">
              <a:buNone/>
            </a:pPr>
            <a:r>
              <a:rPr lang="en-US" sz="1700" b="1" dirty="0">
                <a:solidFill>
                  <a:schemeClr val="tx2"/>
                </a:solidFill>
              </a:rPr>
              <a:t>Carbon-aware scheduling</a:t>
            </a:r>
            <a:endParaRPr lang="en-US" sz="1700" dirty="0"/>
          </a:p>
        </p:txBody>
      </p:sp>
      <p:sp>
        <p:nvSpPr>
          <p:cNvPr id="22" name="Text 16"/>
          <p:cNvSpPr txBox="1"/>
          <p:nvPr/>
        </p:nvSpPr>
        <p:spPr>
          <a:xfrm>
            <a:off x="822960" y="4846320"/>
            <a:ext cx="2905658" cy="914400"/>
          </a:xfrm>
          <a:prstGeom prst="rect">
            <a:avLst/>
          </a:prstGeom>
          <a:noFill/>
          <a:ln/>
        </p:spPr>
        <p:txBody>
          <a:bodyPr wrap="square" lIns="0" tIns="0" rIns="0" bIns="0" rtlCol="0" anchor="t"/>
          <a:lstStyle/>
          <a:p>
            <a:pPr indent="0" marL="0">
              <a:buNone/>
            </a:pPr>
            <a:r>
              <a:rPr lang="en-US" sz="1400" dirty="0">
                <a:solidFill>
                  <a:schemeClr val="tx1"/>
                </a:solidFill>
              </a:rPr>
              <a:t>Run flexible tasks when grid carbon intensity is low</a:t>
            </a:r>
            <a:endParaRPr lang="en-US" sz="1400" dirty="0"/>
          </a:p>
        </p:txBody>
      </p:sp>
      <p:sp>
        <p:nvSpPr>
          <p:cNvPr id="23" name="card-16"/>
          <p:cNvSpPr/>
          <p:nvPr/>
        </p:nvSpPr>
        <p:spPr>
          <a:xfrm>
            <a:off x="4368698" y="3794760"/>
            <a:ext cx="3454298" cy="2148840"/>
          </a:xfrm>
          <a:prstGeom prst="roundRect">
            <a:avLst>
              <a:gd name="adj" fmla="val 5106"/>
            </a:avLst>
          </a:prstGeom>
          <a:solidFill>
            <a:schemeClr val="bg2"/>
          </a:solidFill>
          <a:ln/>
        </p:spPr>
      </p:sp>
      <p:sp>
        <p:nvSpPr>
          <p:cNvPr id="24" name="icon-circle-17"/>
          <p:cNvSpPr/>
          <p:nvPr/>
        </p:nvSpPr>
        <p:spPr>
          <a:xfrm>
            <a:off x="4643018" y="4069080"/>
            <a:ext cx="640080" cy="640080"/>
          </a:xfrm>
          <a:prstGeom prst="ellipse">
            <a:avLst/>
          </a:prstGeom>
          <a:solidFill>
            <a:schemeClr val="accent1"/>
          </a:solidFill>
          <a:ln/>
        </p:spPr>
      </p:sp>
      <p:pic>
        <p:nvPicPr>
          <p:cNvPr id="25" name="icon-18" descr="preencoded.png">    </p:cNvPr>
          <p:cNvPicPr>
            <a:picLocks noChangeAspect="1"/>
          </p:cNvPicPr>
          <p:nvPr/>
        </p:nvPicPr>
        <p:blipFill>
          <a:blip r:embed="rId5"/>
          <a:stretch>
            <a:fillRect/>
          </a:stretch>
        </p:blipFill>
        <p:spPr>
          <a:xfrm>
            <a:off x="4803038" y="4229100"/>
            <a:ext cx="320040" cy="320040"/>
          </a:xfrm>
          <a:prstGeom prst="rect">
            <a:avLst/>
          </a:prstGeom>
        </p:spPr>
      </p:pic>
      <p:sp>
        <p:nvSpPr>
          <p:cNvPr id="26" name="Text 19"/>
          <p:cNvSpPr txBox="1"/>
          <p:nvPr/>
        </p:nvSpPr>
        <p:spPr>
          <a:xfrm>
            <a:off x="5420258" y="4069080"/>
            <a:ext cx="2174138" cy="640080"/>
          </a:xfrm>
          <a:prstGeom prst="rect">
            <a:avLst/>
          </a:prstGeom>
          <a:noFill/>
          <a:ln/>
        </p:spPr>
        <p:txBody>
          <a:bodyPr wrap="square" lIns="0" tIns="0" rIns="0" bIns="0" rtlCol="0" anchor="ctr"/>
          <a:lstStyle/>
          <a:p>
            <a:pPr indent="0" marL="0">
              <a:buNone/>
            </a:pPr>
            <a:r>
              <a:rPr lang="en-US" sz="1700" b="1" dirty="0">
                <a:solidFill>
                  <a:schemeClr val="tx2"/>
                </a:solidFill>
              </a:rPr>
              <a:t>Live dashboards</a:t>
            </a:r>
            <a:endParaRPr lang="en-US" sz="1700" dirty="0"/>
          </a:p>
        </p:txBody>
      </p:sp>
      <p:sp>
        <p:nvSpPr>
          <p:cNvPr id="27" name="Text 20"/>
          <p:cNvSpPr txBox="1"/>
          <p:nvPr/>
        </p:nvSpPr>
        <p:spPr>
          <a:xfrm>
            <a:off x="4643018" y="4846320"/>
            <a:ext cx="2905658" cy="914400"/>
          </a:xfrm>
          <a:prstGeom prst="rect">
            <a:avLst/>
          </a:prstGeom>
          <a:noFill/>
          <a:ln/>
        </p:spPr>
        <p:txBody>
          <a:bodyPr wrap="square" lIns="0" tIns="0" rIns="0" bIns="0" rtlCol="0" anchor="t"/>
          <a:lstStyle/>
          <a:p>
            <a:pPr indent="0" marL="0">
              <a:buNone/>
            </a:pPr>
            <a:r>
              <a:rPr lang="en-US" sz="1400" dirty="0">
                <a:solidFill>
                  <a:schemeClr val="tx1"/>
                </a:solidFill>
              </a:rPr>
              <a:t>Real-time monitoring of energy and cost savings</a:t>
            </a:r>
            <a:endParaRPr lang="en-US" sz="1400" dirty="0"/>
          </a:p>
        </p:txBody>
      </p:sp>
      <p:sp>
        <p:nvSpPr>
          <p:cNvPr id="28" name="card-19"/>
          <p:cNvSpPr/>
          <p:nvPr/>
        </p:nvSpPr>
        <p:spPr>
          <a:xfrm>
            <a:off x="8188757" y="3794760"/>
            <a:ext cx="3454298" cy="2148840"/>
          </a:xfrm>
          <a:prstGeom prst="roundRect">
            <a:avLst>
              <a:gd name="adj" fmla="val 5106"/>
            </a:avLst>
          </a:prstGeom>
          <a:solidFill>
            <a:schemeClr val="bg2"/>
          </a:solidFill>
          <a:ln/>
        </p:spPr>
      </p:sp>
      <p:sp>
        <p:nvSpPr>
          <p:cNvPr id="29" name="icon-circle-20"/>
          <p:cNvSpPr/>
          <p:nvPr/>
        </p:nvSpPr>
        <p:spPr>
          <a:xfrm>
            <a:off x="8463077" y="4069080"/>
            <a:ext cx="640080" cy="640080"/>
          </a:xfrm>
          <a:prstGeom prst="ellipse">
            <a:avLst/>
          </a:prstGeom>
          <a:solidFill>
            <a:schemeClr val="accent1"/>
          </a:solidFill>
          <a:ln/>
        </p:spPr>
      </p:sp>
      <p:pic>
        <p:nvPicPr>
          <p:cNvPr id="30" name="icon-21" descr="preencoded.png">    </p:cNvPr>
          <p:cNvPicPr>
            <a:picLocks noChangeAspect="1"/>
          </p:cNvPicPr>
          <p:nvPr/>
        </p:nvPicPr>
        <p:blipFill>
          <a:blip r:embed="rId6"/>
          <a:stretch>
            <a:fillRect/>
          </a:stretch>
        </p:blipFill>
        <p:spPr>
          <a:xfrm>
            <a:off x="8623097" y="4229100"/>
            <a:ext cx="320040" cy="320040"/>
          </a:xfrm>
          <a:prstGeom prst="rect">
            <a:avLst/>
          </a:prstGeom>
        </p:spPr>
      </p:pic>
      <p:sp>
        <p:nvSpPr>
          <p:cNvPr id="31" name="Text 23"/>
          <p:cNvSpPr txBox="1"/>
          <p:nvPr/>
        </p:nvSpPr>
        <p:spPr>
          <a:xfrm>
            <a:off x="9240317" y="4069080"/>
            <a:ext cx="2174138" cy="640080"/>
          </a:xfrm>
          <a:prstGeom prst="rect">
            <a:avLst/>
          </a:prstGeom>
          <a:noFill/>
          <a:ln/>
        </p:spPr>
        <p:txBody>
          <a:bodyPr wrap="square" lIns="0" tIns="0" rIns="0" bIns="0" rtlCol="0" anchor="ctr"/>
          <a:lstStyle/>
          <a:p>
            <a:pPr indent="0" marL="0">
              <a:buNone/>
            </a:pPr>
            <a:r>
              <a:rPr lang="en-US" sz="1700" b="1" dirty="0">
                <a:solidFill>
                  <a:schemeClr val="tx2"/>
                </a:solidFill>
              </a:rPr>
              <a:t>SLA and scalability</a:t>
            </a:r>
            <a:endParaRPr lang="en-US" sz="1700" dirty="0"/>
          </a:p>
        </p:txBody>
      </p:sp>
      <p:sp>
        <p:nvSpPr>
          <p:cNvPr id="32" name="Text 24"/>
          <p:cNvSpPr txBox="1"/>
          <p:nvPr/>
        </p:nvSpPr>
        <p:spPr>
          <a:xfrm>
            <a:off x="8463077" y="4846320"/>
            <a:ext cx="2905658" cy="914400"/>
          </a:xfrm>
          <a:prstGeom prst="rect">
            <a:avLst/>
          </a:prstGeom>
          <a:noFill/>
          <a:ln/>
        </p:spPr>
        <p:txBody>
          <a:bodyPr wrap="square" lIns="0" tIns="0" rIns="0" bIns="0" rtlCol="0" anchor="t"/>
          <a:lstStyle/>
          <a:p>
            <a:pPr indent="0" marL="0">
              <a:buNone/>
            </a:pPr>
            <a:r>
              <a:rPr lang="en-US" sz="1400" dirty="0">
                <a:solidFill>
                  <a:schemeClr val="tx1"/>
                </a:solidFill>
              </a:rPr>
              <a:t>Stay scalable and meet SLAs while optimizing for sustainability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System architecture</a:t>
            </a:r>
            <a:endParaRPr lang="en-US" sz="3200" dirty="0"/>
          </a:p>
        </p:txBody>
      </p:sp>
      <p:pic>
        <p:nvPicPr>
          <p:cNvPr id="3" name="image-22" descr="D:\Projects\AURA_Cloud_Project_2026\architecture\System_Architecture.png">    </p:cNvPr>
          <p:cNvPicPr>
            <a:picLocks noChangeAspect="1"/>
          </p:cNvPicPr>
          <p:nvPr/>
        </p:nvPicPr>
        <p:blipFill>
          <a:blip r:embed="rId1"/>
          <a:stretch>
            <a:fillRect/>
          </a:stretch>
        </p:blipFill>
        <p:spPr>
          <a:xfrm>
            <a:off x="548640" y="1246758"/>
            <a:ext cx="11094415" cy="2947164"/>
          </a:xfrm>
          <a:prstGeom prst="rect">
            <a:avLst/>
          </a:prstGeom>
        </p:spPr>
      </p:pic>
      <p:sp>
        <p:nvSpPr>
          <p:cNvPr id="4" name="card-23"/>
          <p:cNvSpPr/>
          <p:nvPr/>
        </p:nvSpPr>
        <p:spPr>
          <a:xfrm>
            <a:off x="548640" y="4480560"/>
            <a:ext cx="2567864" cy="1691640"/>
          </a:xfrm>
          <a:prstGeom prst="roundRect">
            <a:avLst>
              <a:gd name="adj" fmla="val 6486"/>
            </a:avLst>
          </a:prstGeom>
          <a:solidFill>
            <a:schemeClr val="bg2"/>
          </a:solidFill>
          <a:ln/>
        </p:spPr>
      </p:sp>
      <p:sp>
        <p:nvSpPr>
          <p:cNvPr id="5" name="Text 2"/>
          <p:cNvSpPr txBox="1"/>
          <p:nvPr/>
        </p:nvSpPr>
        <p:spPr>
          <a:xfrm>
            <a:off x="731520" y="4572000"/>
            <a:ext cx="2202104" cy="411480"/>
          </a:xfrm>
          <a:prstGeom prst="rect">
            <a:avLst/>
          </a:prstGeom>
          <a:noFill/>
          <a:ln/>
        </p:spPr>
        <p:txBody>
          <a:bodyPr wrap="square" lIns="0" tIns="0" rIns="0" bIns="0" rtlCol="0" anchor="ctr"/>
          <a:lstStyle/>
          <a:p>
            <a:pPr indent="0" marL="0">
              <a:buNone/>
            </a:pPr>
            <a:r>
              <a:rPr lang="en-US" sz="1500" b="1" dirty="0">
                <a:solidFill>
                  <a:schemeClr val="accent1"/>
                </a:solidFill>
              </a:rPr>
              <a:t>Data ingestion</a:t>
            </a:r>
            <a:endParaRPr lang="en-US" sz="1500" dirty="0"/>
          </a:p>
        </p:txBody>
      </p:sp>
      <p:sp>
        <p:nvSpPr>
          <p:cNvPr id="6" name="Text 3"/>
          <p:cNvSpPr txBox="1"/>
          <p:nvPr/>
        </p:nvSpPr>
        <p:spPr>
          <a:xfrm>
            <a:off x="731520" y="4983480"/>
            <a:ext cx="2202104" cy="1097280"/>
          </a:xfrm>
          <a:prstGeom prst="rect">
            <a:avLst/>
          </a:prstGeom>
          <a:noFill/>
          <a:ln/>
        </p:spPr>
        <p:txBody>
          <a:bodyPr wrap="square" lIns="0" tIns="0" rIns="0" bIns="0" rtlCol="0" anchor="t"/>
          <a:lstStyle/>
          <a:p>
            <a:pPr indent="0" marL="0">
              <a:buNone/>
            </a:pPr>
            <a:r>
              <a:rPr lang="en-US" sz="1400" dirty="0">
                <a:solidFill>
                  <a:schemeClr val="tx1"/>
                </a:solidFill>
              </a:rPr>
              <a:t>Sensors, meters and usage logs flow in through API Gateway</a:t>
            </a:r>
            <a:endParaRPr lang="en-US" sz="1400" dirty="0"/>
          </a:p>
        </p:txBody>
      </p:sp>
      <p:sp>
        <p:nvSpPr>
          <p:cNvPr id="7" name="card-24"/>
          <p:cNvSpPr/>
          <p:nvPr/>
        </p:nvSpPr>
        <p:spPr>
          <a:xfrm>
            <a:off x="3390824" y="4480560"/>
            <a:ext cx="2567864" cy="1691640"/>
          </a:xfrm>
          <a:prstGeom prst="roundRect">
            <a:avLst>
              <a:gd name="adj" fmla="val 6486"/>
            </a:avLst>
          </a:prstGeom>
          <a:solidFill>
            <a:schemeClr val="bg2"/>
          </a:solidFill>
          <a:ln/>
        </p:spPr>
      </p:sp>
      <p:sp>
        <p:nvSpPr>
          <p:cNvPr id="8" name="Text 5"/>
          <p:cNvSpPr txBox="1"/>
          <p:nvPr/>
        </p:nvSpPr>
        <p:spPr>
          <a:xfrm>
            <a:off x="3573704" y="4572000"/>
            <a:ext cx="2202104" cy="411480"/>
          </a:xfrm>
          <a:prstGeom prst="rect">
            <a:avLst/>
          </a:prstGeom>
          <a:noFill/>
          <a:ln/>
        </p:spPr>
        <p:txBody>
          <a:bodyPr wrap="square" lIns="0" tIns="0" rIns="0" bIns="0" rtlCol="0" anchor="ctr"/>
          <a:lstStyle/>
          <a:p>
            <a:pPr indent="0" marL="0">
              <a:buNone/>
            </a:pPr>
            <a:r>
              <a:rPr lang="en-US" sz="1500" b="1" dirty="0">
                <a:solidFill>
                  <a:schemeClr val="accent1"/>
                </a:solidFill>
              </a:rPr>
              <a:t>Auth &amp; API</a:t>
            </a:r>
            <a:endParaRPr lang="en-US" sz="1500" dirty="0"/>
          </a:p>
        </p:txBody>
      </p:sp>
      <p:sp>
        <p:nvSpPr>
          <p:cNvPr id="9" name="Text 6"/>
          <p:cNvSpPr txBox="1"/>
          <p:nvPr/>
        </p:nvSpPr>
        <p:spPr>
          <a:xfrm>
            <a:off x="3573704" y="4983480"/>
            <a:ext cx="2202104" cy="1097280"/>
          </a:xfrm>
          <a:prstGeom prst="rect">
            <a:avLst/>
          </a:prstGeom>
          <a:noFill/>
          <a:ln/>
        </p:spPr>
        <p:txBody>
          <a:bodyPr wrap="square" lIns="0" tIns="0" rIns="0" bIns="0" rtlCol="0" anchor="t"/>
          <a:lstStyle/>
          <a:p>
            <a:pPr indent="0" marL="0">
              <a:buNone/>
            </a:pPr>
            <a:r>
              <a:rPr lang="en-US" sz="1400" dirty="0">
                <a:solidFill>
                  <a:schemeClr val="tx1"/>
                </a:solidFill>
              </a:rPr>
              <a:t>Cognito signs users in, IAM limits access, REST APIs connect the layers</a:t>
            </a:r>
            <a:endParaRPr lang="en-US" sz="1400" dirty="0"/>
          </a:p>
        </p:txBody>
      </p:sp>
      <p:sp>
        <p:nvSpPr>
          <p:cNvPr id="10" name="card-25"/>
          <p:cNvSpPr/>
          <p:nvPr/>
        </p:nvSpPr>
        <p:spPr>
          <a:xfrm>
            <a:off x="6233008" y="4480560"/>
            <a:ext cx="2567864" cy="1691640"/>
          </a:xfrm>
          <a:prstGeom prst="roundRect">
            <a:avLst>
              <a:gd name="adj" fmla="val 6486"/>
            </a:avLst>
          </a:prstGeom>
          <a:solidFill>
            <a:schemeClr val="bg2"/>
          </a:solidFill>
          <a:ln/>
        </p:spPr>
      </p:sp>
      <p:sp>
        <p:nvSpPr>
          <p:cNvPr id="11" name="Text 8"/>
          <p:cNvSpPr txBox="1"/>
          <p:nvPr/>
        </p:nvSpPr>
        <p:spPr>
          <a:xfrm>
            <a:off x="6415888" y="4572000"/>
            <a:ext cx="2202104" cy="411480"/>
          </a:xfrm>
          <a:prstGeom prst="rect">
            <a:avLst/>
          </a:prstGeom>
          <a:noFill/>
          <a:ln/>
        </p:spPr>
        <p:txBody>
          <a:bodyPr wrap="square" lIns="0" tIns="0" rIns="0" bIns="0" rtlCol="0" anchor="ctr"/>
          <a:lstStyle/>
          <a:p>
            <a:pPr indent="0" marL="0">
              <a:buNone/>
            </a:pPr>
            <a:r>
              <a:rPr lang="en-US" sz="1500" b="1" dirty="0">
                <a:solidFill>
                  <a:schemeClr val="accent1"/>
                </a:solidFill>
              </a:rPr>
              <a:t>Processing &amp; AI/ML</a:t>
            </a:r>
            <a:endParaRPr lang="en-US" sz="1500" dirty="0"/>
          </a:p>
        </p:txBody>
      </p:sp>
      <p:sp>
        <p:nvSpPr>
          <p:cNvPr id="12" name="Text 9"/>
          <p:cNvSpPr txBox="1"/>
          <p:nvPr/>
        </p:nvSpPr>
        <p:spPr>
          <a:xfrm>
            <a:off x="6415888" y="4983480"/>
            <a:ext cx="2202104" cy="1097280"/>
          </a:xfrm>
          <a:prstGeom prst="rect">
            <a:avLst/>
          </a:prstGeom>
          <a:noFill/>
          <a:ln/>
        </p:spPr>
        <p:txBody>
          <a:bodyPr wrap="square" lIns="0" tIns="0" rIns="0" bIns="0" rtlCol="0" anchor="t"/>
          <a:lstStyle/>
          <a:p>
            <a:pPr indent="0" marL="0">
              <a:buNone/>
            </a:pPr>
            <a:r>
              <a:rPr lang="en-US" sz="1400" dirty="0">
                <a:solidFill>
                  <a:schemeClr val="tx1"/>
                </a:solidFill>
              </a:rPr>
              <a:t>LSTM forecast feeds the allocation engine and carbon-aware scheduler</a:t>
            </a:r>
            <a:endParaRPr lang="en-US" sz="1400" dirty="0"/>
          </a:p>
        </p:txBody>
      </p:sp>
      <p:sp>
        <p:nvSpPr>
          <p:cNvPr id="13" name="card-26"/>
          <p:cNvSpPr/>
          <p:nvPr/>
        </p:nvSpPr>
        <p:spPr>
          <a:xfrm>
            <a:off x="9075191" y="4480560"/>
            <a:ext cx="2567864" cy="1691640"/>
          </a:xfrm>
          <a:prstGeom prst="roundRect">
            <a:avLst>
              <a:gd name="adj" fmla="val 6486"/>
            </a:avLst>
          </a:prstGeom>
          <a:solidFill>
            <a:schemeClr val="bg2"/>
          </a:solidFill>
          <a:ln/>
        </p:spPr>
      </p:sp>
      <p:sp>
        <p:nvSpPr>
          <p:cNvPr id="14" name="Text 11"/>
          <p:cNvSpPr txBox="1"/>
          <p:nvPr/>
        </p:nvSpPr>
        <p:spPr>
          <a:xfrm>
            <a:off x="9258071" y="4572000"/>
            <a:ext cx="2202104" cy="411480"/>
          </a:xfrm>
          <a:prstGeom prst="rect">
            <a:avLst/>
          </a:prstGeom>
          <a:noFill/>
          <a:ln/>
        </p:spPr>
        <p:txBody>
          <a:bodyPr wrap="square" lIns="0" tIns="0" rIns="0" bIns="0" rtlCol="0" anchor="ctr"/>
          <a:lstStyle/>
          <a:p>
            <a:pPr indent="0" marL="0">
              <a:buNone/>
            </a:pPr>
            <a:r>
              <a:rPr lang="en-US" sz="1500" b="1" dirty="0">
                <a:solidFill>
                  <a:schemeClr val="accent1"/>
                </a:solidFill>
              </a:rPr>
              <a:t>Storage, monitoring &amp; UI</a:t>
            </a:r>
            <a:endParaRPr lang="en-US" sz="1500" dirty="0"/>
          </a:p>
        </p:txBody>
      </p:sp>
      <p:sp>
        <p:nvSpPr>
          <p:cNvPr id="15" name="Text 12"/>
          <p:cNvSpPr txBox="1"/>
          <p:nvPr/>
        </p:nvSpPr>
        <p:spPr>
          <a:xfrm>
            <a:off x="9258071" y="4983480"/>
            <a:ext cx="2202104" cy="1097280"/>
          </a:xfrm>
          <a:prstGeom prst="rect">
            <a:avLst/>
          </a:prstGeom>
          <a:noFill/>
          <a:ln/>
        </p:spPr>
        <p:txBody>
          <a:bodyPr wrap="square" lIns="0" tIns="0" rIns="0" bIns="0" rtlCol="0" anchor="t"/>
          <a:lstStyle/>
          <a:p>
            <a:pPr indent="0" marL="0">
              <a:buNone/>
            </a:pPr>
            <a:r>
              <a:rPr lang="en-US" sz="1400" dirty="0">
                <a:solidFill>
                  <a:schemeClr val="tx1"/>
                </a:solidFill>
              </a:rPr>
              <a:t>S3 and DynamoDB store data, CloudWatch and SNS alert, React dashboard shows savings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Data: a real university building and a real grid</a:t>
            </a:r>
            <a:endParaRPr lang="en-US" sz="3200" dirty="0"/>
          </a:p>
        </p:txBody>
      </p:sp>
      <p:sp>
        <p:nvSpPr>
          <p:cNvPr id="3" name="card-27"/>
          <p:cNvSpPr/>
          <p:nvPr/>
        </p:nvSpPr>
        <p:spPr>
          <a:xfrm>
            <a:off x="548640" y="1280160"/>
            <a:ext cx="5364328" cy="3931920"/>
          </a:xfrm>
          <a:prstGeom prst="roundRect">
            <a:avLst>
              <a:gd name="adj" fmla="val 2791"/>
            </a:avLst>
          </a:prstGeom>
          <a:solidFill>
            <a:schemeClr val="bg2"/>
          </a:solidFill>
          <a:ln/>
        </p:spPr>
      </p:sp>
      <p:sp>
        <p:nvSpPr>
          <p:cNvPr id="4" name="icon-circle-28"/>
          <p:cNvSpPr/>
          <p:nvPr/>
        </p:nvSpPr>
        <p:spPr>
          <a:xfrm>
            <a:off x="822960" y="1508760"/>
            <a:ext cx="640080" cy="640080"/>
          </a:xfrm>
          <a:prstGeom prst="ellipse">
            <a:avLst/>
          </a:prstGeom>
          <a:solidFill>
            <a:schemeClr val="accent1"/>
          </a:solidFill>
          <a:ln/>
        </p:spPr>
      </p:sp>
      <p:pic>
        <p:nvPicPr>
          <p:cNvPr id="5" name="icon-29" descr="preencoded.png">    </p:cNvPr>
          <p:cNvPicPr>
            <a:picLocks noChangeAspect="1"/>
          </p:cNvPicPr>
          <p:nvPr/>
        </p:nvPicPr>
        <p:blipFill>
          <a:blip r:embed="rId1"/>
          <a:stretch>
            <a:fillRect/>
          </a:stretch>
        </p:blipFill>
        <p:spPr>
          <a:xfrm>
            <a:off x="982980" y="1668780"/>
            <a:ext cx="320040" cy="320040"/>
          </a:xfrm>
          <a:prstGeom prst="rect">
            <a:avLst/>
          </a:prstGeom>
        </p:spPr>
      </p:pic>
      <p:sp>
        <p:nvSpPr>
          <p:cNvPr id="6" name="Text 3"/>
          <p:cNvSpPr txBox="1"/>
          <p:nvPr/>
        </p:nvSpPr>
        <p:spPr>
          <a:xfrm>
            <a:off x="1600200" y="1508760"/>
            <a:ext cx="4084168" cy="640080"/>
          </a:xfrm>
          <a:prstGeom prst="rect">
            <a:avLst/>
          </a:prstGeom>
          <a:noFill/>
          <a:ln/>
        </p:spPr>
        <p:txBody>
          <a:bodyPr wrap="square" lIns="0" tIns="0" rIns="0" bIns="0" rtlCol="0" anchor="ctr"/>
          <a:lstStyle/>
          <a:p>
            <a:pPr indent="0" marL="0">
              <a:buNone/>
            </a:pPr>
            <a:r>
              <a:rPr lang="en-US" sz="2000" b="1" dirty="0">
                <a:solidFill>
                  <a:schemeClr val="tx2"/>
                </a:solidFill>
              </a:rPr>
              <a:t>CU-BEMS building energy</a:t>
            </a:r>
            <a:endParaRPr lang="en-US" sz="2000" dirty="0"/>
          </a:p>
        </p:txBody>
      </p:sp>
      <p:sp>
        <p:nvSpPr>
          <p:cNvPr id="7" name="Text 4"/>
          <p:cNvSpPr txBox="1"/>
          <p:nvPr/>
        </p:nvSpPr>
        <p:spPr>
          <a:xfrm>
            <a:off x="822960" y="2331720"/>
            <a:ext cx="4815688"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Chulalongkorn University, Bangkok; CC BY 4.0</a:t>
            </a:r>
            <a:endParaRPr lang="en-US" sz="1500" dirty="0"/>
          </a:p>
          <a:p>
            <a:pPr marL="342900" indent="-342900">
              <a:spcAft>
                <a:spcPts val="800"/>
              </a:spcAft>
              <a:buSzPct val="100000"/>
              <a:buChar char="•"/>
            </a:pPr>
            <a:r>
              <a:rPr lang="en-US" sz="1500" dirty="0">
                <a:solidFill>
                  <a:schemeClr val="tx1"/>
                </a:solidFill>
              </a:rPr>
              <a:t>14 CSVs, 788 MB: 7 floors, 1-minute AC, lighting and plug power plus temperature, humidity, light</a:t>
            </a:r>
            <a:endParaRPr lang="en-US" sz="1500" dirty="0"/>
          </a:p>
          <a:p>
            <a:pPr marL="342900" indent="-342900">
              <a:spcAft>
                <a:spcPts val="800"/>
              </a:spcAft>
              <a:buSzPct val="100000"/>
              <a:buChar char="•"/>
            </a:pPr>
            <a:r>
              <a:rPr lang="en-US" sz="1500" dirty="0">
                <a:solidFill>
                  <a:schemeClr val="tx1"/>
                </a:solidFill>
              </a:rPr>
              <a:t>After cleaning: 41,766 complete 15-minute steps (about 435 days, 2018-07-01 to 2019-10-22)</a:t>
            </a:r>
            <a:endParaRPr lang="en-US" sz="1500" dirty="0"/>
          </a:p>
          <a:p>
            <a:pPr marL="342900" indent="-342900">
              <a:spcAft>
                <a:spcPts val="800"/>
              </a:spcAft>
              <a:buSzPct val="100000"/>
              <a:buChar char="•"/>
            </a:pPr>
            <a:r>
              <a:rPr lang="en-US" sz="1500" dirty="0">
                <a:solidFill>
                  <a:schemeClr val="tx1"/>
                </a:solidFill>
              </a:rPr>
              <a:t>Gaps: Floor 6 ends 2019-10-22; Floor 3 is missing about 40 days; steps missing any floor are dropped</a:t>
            </a:r>
            <a:endParaRPr lang="en-US" sz="1500" dirty="0"/>
          </a:p>
        </p:txBody>
      </p:sp>
      <p:sp>
        <p:nvSpPr>
          <p:cNvPr id="8" name="card-30"/>
          <p:cNvSpPr/>
          <p:nvPr/>
        </p:nvSpPr>
        <p:spPr>
          <a:xfrm>
            <a:off x="6278728" y="1280160"/>
            <a:ext cx="5364328" cy="3931920"/>
          </a:xfrm>
          <a:prstGeom prst="roundRect">
            <a:avLst>
              <a:gd name="adj" fmla="val 2791"/>
            </a:avLst>
          </a:prstGeom>
          <a:solidFill>
            <a:schemeClr val="bg2"/>
          </a:solidFill>
          <a:ln/>
        </p:spPr>
      </p:sp>
      <p:sp>
        <p:nvSpPr>
          <p:cNvPr id="9" name="icon-circle-31"/>
          <p:cNvSpPr/>
          <p:nvPr/>
        </p:nvSpPr>
        <p:spPr>
          <a:xfrm>
            <a:off x="6553048" y="1508760"/>
            <a:ext cx="640080" cy="640080"/>
          </a:xfrm>
          <a:prstGeom prst="ellipse">
            <a:avLst/>
          </a:prstGeom>
          <a:solidFill>
            <a:schemeClr val="accent1"/>
          </a:solidFill>
          <a:ln/>
        </p:spPr>
      </p:sp>
      <p:pic>
        <p:nvPicPr>
          <p:cNvPr id="10" name="icon-32" descr="preencoded.png">    </p:cNvPr>
          <p:cNvPicPr>
            <a:picLocks noChangeAspect="1"/>
          </p:cNvPicPr>
          <p:nvPr/>
        </p:nvPicPr>
        <p:blipFill>
          <a:blip r:embed="rId2"/>
          <a:stretch>
            <a:fillRect/>
          </a:stretch>
        </p:blipFill>
        <p:spPr>
          <a:xfrm>
            <a:off x="6713068" y="1668780"/>
            <a:ext cx="320040" cy="320040"/>
          </a:xfrm>
          <a:prstGeom prst="rect">
            <a:avLst/>
          </a:prstGeom>
        </p:spPr>
      </p:pic>
      <p:sp>
        <p:nvSpPr>
          <p:cNvPr id="11" name="Text 7"/>
          <p:cNvSpPr txBox="1"/>
          <p:nvPr/>
        </p:nvSpPr>
        <p:spPr>
          <a:xfrm>
            <a:off x="7330288" y="1508760"/>
            <a:ext cx="4084168" cy="640080"/>
          </a:xfrm>
          <a:prstGeom prst="rect">
            <a:avLst/>
          </a:prstGeom>
          <a:noFill/>
          <a:ln/>
        </p:spPr>
        <p:txBody>
          <a:bodyPr wrap="square" lIns="0" tIns="0" rIns="0" bIns="0" rtlCol="0" anchor="ctr"/>
          <a:lstStyle/>
          <a:p>
            <a:pPr indent="0" marL="0">
              <a:buNone/>
            </a:pPr>
            <a:r>
              <a:rPr lang="en-US" sz="2000" b="1" dirty="0">
                <a:solidFill>
                  <a:schemeClr val="tx2"/>
                </a:solidFill>
              </a:rPr>
              <a:t>Grid carbon intensity</a:t>
            </a:r>
            <a:endParaRPr lang="en-US" sz="2000" dirty="0"/>
          </a:p>
        </p:txBody>
      </p:sp>
      <p:sp>
        <p:nvSpPr>
          <p:cNvPr id="12" name="Text 8"/>
          <p:cNvSpPr txBox="1"/>
          <p:nvPr/>
        </p:nvSpPr>
        <p:spPr>
          <a:xfrm>
            <a:off x="6553048" y="2331720"/>
            <a:ext cx="4815688" cy="27432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UK Carbon Intensity API (carbonintensity.org.uk); CC BY 4.0</a:t>
            </a:r>
            <a:endParaRPr lang="en-US" sz="1500" dirty="0"/>
          </a:p>
          <a:p>
            <a:pPr marL="342900" indent="-342900">
              <a:spcAft>
                <a:spcPts val="800"/>
              </a:spcAft>
              <a:buSzPct val="100000"/>
              <a:buChar char="•"/>
            </a:pPr>
            <a:r>
              <a:rPr lang="en-US" sz="1500" dirty="0">
                <a:solidFill>
                  <a:schemeClr val="tx1"/>
                </a:solidFill>
              </a:rPr>
              <a:t>3,481 hourly values, 2019-05-31 to 2019-10-23, matched to the building on UTC time</a:t>
            </a:r>
            <a:endParaRPr lang="en-US" sz="1500" dirty="0"/>
          </a:p>
          <a:p>
            <a:pPr marL="342900" indent="-342900">
              <a:spcAft>
                <a:spcPts val="800"/>
              </a:spcAft>
              <a:buSzPct val="100000"/>
              <a:buChar char="•"/>
            </a:pPr>
            <a:r>
              <a:rPr lang="en-US" sz="1500" dirty="0">
                <a:solidFill>
                  <a:schemeClr val="tx1"/>
                </a:solidFill>
              </a:rPr>
              <a:t>154 of 6,972 half-hours had no actual value and use the API's forecast</a:t>
            </a:r>
            <a:endParaRPr lang="en-US" sz="1500" dirty="0"/>
          </a:p>
          <a:p>
            <a:pPr marL="342900" indent="-342900">
              <a:spcAft>
                <a:spcPts val="800"/>
              </a:spcAft>
              <a:buSzPct val="100000"/>
              <a:buChar char="•"/>
            </a:pPr>
            <a:r>
              <a:rPr lang="en-US" sz="1500" dirty="0">
                <a:solidFill>
                  <a:schemeClr val="tx1"/>
                </a:solidFill>
              </a:rPr>
              <a:t>Real grid behaviour, but the UK grid, not Thailand's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Preprocessing and features</a:t>
            </a:r>
            <a:endParaRPr lang="en-US" sz="3200" dirty="0"/>
          </a:p>
        </p:txBody>
      </p:sp>
      <p:sp>
        <p:nvSpPr>
          <p:cNvPr id="3" name="card-33"/>
          <p:cNvSpPr/>
          <p:nvPr/>
        </p:nvSpPr>
        <p:spPr>
          <a:xfrm>
            <a:off x="548640" y="1463040"/>
            <a:ext cx="2464994" cy="3291840"/>
          </a:xfrm>
          <a:prstGeom prst="roundRect">
            <a:avLst>
              <a:gd name="adj" fmla="val 4451"/>
            </a:avLst>
          </a:prstGeom>
          <a:solidFill>
            <a:schemeClr val="bg2"/>
          </a:solidFill>
          <a:ln/>
        </p:spPr>
      </p:sp>
      <p:sp>
        <p:nvSpPr>
          <p:cNvPr id="4" name="icon-circle-34"/>
          <p:cNvSpPr/>
          <p:nvPr/>
        </p:nvSpPr>
        <p:spPr>
          <a:xfrm>
            <a:off x="1369657" y="1737360"/>
            <a:ext cx="822960" cy="822960"/>
          </a:xfrm>
          <a:prstGeom prst="ellipse">
            <a:avLst/>
          </a:prstGeom>
          <a:solidFill>
            <a:schemeClr val="accent1"/>
          </a:solidFill>
          <a:ln/>
        </p:spPr>
      </p:sp>
      <p:pic>
        <p:nvPicPr>
          <p:cNvPr id="5" name="icon-35" descr="preencoded.png">    </p:cNvPr>
          <p:cNvPicPr>
            <a:picLocks noChangeAspect="1"/>
          </p:cNvPicPr>
          <p:nvPr/>
        </p:nvPicPr>
        <p:blipFill>
          <a:blip r:embed="rId1"/>
          <a:stretch>
            <a:fillRect/>
          </a:stretch>
        </p:blipFill>
        <p:spPr>
          <a:xfrm>
            <a:off x="1575397" y="1943100"/>
            <a:ext cx="411480" cy="411480"/>
          </a:xfrm>
          <a:prstGeom prst="rect">
            <a:avLst/>
          </a:prstGeom>
        </p:spPr>
      </p:pic>
      <p:sp>
        <p:nvSpPr>
          <p:cNvPr id="6" name="Text 3"/>
          <p:cNvSpPr txBox="1"/>
          <p:nvPr/>
        </p:nvSpPr>
        <p:spPr>
          <a:xfrm>
            <a:off x="777240" y="2743200"/>
            <a:ext cx="2007794" cy="457200"/>
          </a:xfrm>
          <a:prstGeom prst="rect">
            <a:avLst/>
          </a:prstGeom>
          <a:noFill/>
          <a:ln/>
        </p:spPr>
        <p:txBody>
          <a:bodyPr wrap="square" lIns="0" tIns="0" rIns="0" bIns="0" rtlCol="0" anchor="ctr"/>
          <a:lstStyle/>
          <a:p>
            <a:pPr algn="ctr" indent="0" marL="0">
              <a:buNone/>
            </a:pPr>
            <a:r>
              <a:rPr lang="en-US" sz="1800" b="1" dirty="0">
                <a:solidFill>
                  <a:schemeClr val="tx2"/>
                </a:solidFill>
              </a:rPr>
              <a:t>1. Aggregate</a:t>
            </a:r>
            <a:endParaRPr lang="en-US" sz="1800" dirty="0"/>
          </a:p>
        </p:txBody>
      </p:sp>
      <p:sp>
        <p:nvSpPr>
          <p:cNvPr id="7" name="Text 4"/>
          <p:cNvSpPr txBox="1"/>
          <p:nvPr/>
        </p:nvSpPr>
        <p:spPr>
          <a:xfrm>
            <a:off x="777240" y="3246120"/>
            <a:ext cx="2007794" cy="1371600"/>
          </a:xfrm>
          <a:prstGeom prst="rect">
            <a:avLst/>
          </a:prstGeom>
          <a:noFill/>
          <a:ln/>
        </p:spPr>
        <p:txBody>
          <a:bodyPr wrap="square" lIns="0" tIns="0" rIns="0" bIns="0" rtlCol="0" anchor="t"/>
          <a:lstStyle/>
          <a:p>
            <a:pPr indent="0" marL="0">
              <a:buNone/>
            </a:pPr>
            <a:r>
              <a:rPr lang="en-US" sz="1400" dirty="0">
                <a:solidFill>
                  <a:schemeClr val="tx1"/>
                </a:solidFill>
              </a:rPr>
              <a:t>Sum every kW meter per floor into total, AC, lighting and plug load</a:t>
            </a:r>
            <a:endParaRPr lang="en-US" sz="1400" dirty="0"/>
          </a:p>
        </p:txBody>
      </p:sp>
      <p:sp>
        <p:nvSpPr>
          <p:cNvPr id="8" name="arrow-36"/>
          <p:cNvSpPr/>
          <p:nvPr/>
        </p:nvSpPr>
        <p:spPr>
          <a:xfrm>
            <a:off x="3077642" y="2926080"/>
            <a:ext cx="283464" cy="365760"/>
          </a:xfrm>
          <a:prstGeom prst="rightArrow">
            <a:avLst/>
          </a:prstGeom>
          <a:solidFill>
            <a:schemeClr val="accent2"/>
          </a:solidFill>
          <a:ln/>
        </p:spPr>
      </p:sp>
      <p:sp>
        <p:nvSpPr>
          <p:cNvPr id="9" name="card-37"/>
          <p:cNvSpPr/>
          <p:nvPr/>
        </p:nvSpPr>
        <p:spPr>
          <a:xfrm>
            <a:off x="3425114" y="1463040"/>
            <a:ext cx="2464994" cy="3291840"/>
          </a:xfrm>
          <a:prstGeom prst="roundRect">
            <a:avLst>
              <a:gd name="adj" fmla="val 4451"/>
            </a:avLst>
          </a:prstGeom>
          <a:solidFill>
            <a:schemeClr val="bg2"/>
          </a:solidFill>
          <a:ln/>
        </p:spPr>
      </p:sp>
      <p:sp>
        <p:nvSpPr>
          <p:cNvPr id="10" name="icon-circle-38"/>
          <p:cNvSpPr/>
          <p:nvPr/>
        </p:nvSpPr>
        <p:spPr>
          <a:xfrm>
            <a:off x="4246131" y="1737360"/>
            <a:ext cx="822960" cy="822960"/>
          </a:xfrm>
          <a:prstGeom prst="ellipse">
            <a:avLst/>
          </a:prstGeom>
          <a:solidFill>
            <a:schemeClr val="accent1"/>
          </a:solidFill>
          <a:ln/>
        </p:spPr>
      </p:sp>
      <p:pic>
        <p:nvPicPr>
          <p:cNvPr id="11" name="icon-39" descr="preencoded.png">    </p:cNvPr>
          <p:cNvPicPr>
            <a:picLocks noChangeAspect="1"/>
          </p:cNvPicPr>
          <p:nvPr/>
        </p:nvPicPr>
        <p:blipFill>
          <a:blip r:embed="rId2"/>
          <a:stretch>
            <a:fillRect/>
          </a:stretch>
        </p:blipFill>
        <p:spPr>
          <a:xfrm>
            <a:off x="4451871" y="1943100"/>
            <a:ext cx="411480" cy="411480"/>
          </a:xfrm>
          <a:prstGeom prst="rect">
            <a:avLst/>
          </a:prstGeom>
        </p:spPr>
      </p:pic>
      <p:sp>
        <p:nvSpPr>
          <p:cNvPr id="12" name="Text 8"/>
          <p:cNvSpPr txBox="1"/>
          <p:nvPr/>
        </p:nvSpPr>
        <p:spPr>
          <a:xfrm>
            <a:off x="3653714" y="2743200"/>
            <a:ext cx="2007794" cy="457200"/>
          </a:xfrm>
          <a:prstGeom prst="rect">
            <a:avLst/>
          </a:prstGeom>
          <a:noFill/>
          <a:ln/>
        </p:spPr>
        <p:txBody>
          <a:bodyPr wrap="square" lIns="0" tIns="0" rIns="0" bIns="0" rtlCol="0" anchor="ctr"/>
          <a:lstStyle/>
          <a:p>
            <a:pPr algn="ctr" indent="0" marL="0">
              <a:buNone/>
            </a:pPr>
            <a:r>
              <a:rPr lang="en-US" sz="1800" b="1" dirty="0">
                <a:solidFill>
                  <a:schemeClr val="tx2"/>
                </a:solidFill>
              </a:rPr>
              <a:t>2. Resample</a:t>
            </a:r>
            <a:endParaRPr lang="en-US" sz="1800" dirty="0"/>
          </a:p>
        </p:txBody>
      </p:sp>
      <p:sp>
        <p:nvSpPr>
          <p:cNvPr id="13" name="Text 9"/>
          <p:cNvSpPr txBox="1"/>
          <p:nvPr/>
        </p:nvSpPr>
        <p:spPr>
          <a:xfrm>
            <a:off x="3653714" y="3246120"/>
            <a:ext cx="2007794" cy="1371600"/>
          </a:xfrm>
          <a:prstGeom prst="rect">
            <a:avLst/>
          </a:prstGeom>
          <a:noFill/>
          <a:ln/>
        </p:spPr>
        <p:txBody>
          <a:bodyPr wrap="square" lIns="0" tIns="0" rIns="0" bIns="0" rtlCol="0" anchor="t"/>
          <a:lstStyle/>
          <a:p>
            <a:pPr indent="0" marL="0">
              <a:buNone/>
            </a:pPr>
            <a:r>
              <a:rPr lang="en-US" sz="1400" dirty="0">
                <a:solidFill>
                  <a:schemeClr val="tx1"/>
                </a:solidFill>
              </a:rPr>
              <a:t>1-minute to 15-minute means; fill gaps up to 1 hour; drop steps where any floor is missing</a:t>
            </a:r>
            <a:endParaRPr lang="en-US" sz="1400" dirty="0"/>
          </a:p>
        </p:txBody>
      </p:sp>
      <p:sp>
        <p:nvSpPr>
          <p:cNvPr id="14" name="arrow-40"/>
          <p:cNvSpPr/>
          <p:nvPr/>
        </p:nvSpPr>
        <p:spPr>
          <a:xfrm>
            <a:off x="5954116" y="2926080"/>
            <a:ext cx="283464" cy="365760"/>
          </a:xfrm>
          <a:prstGeom prst="rightArrow">
            <a:avLst/>
          </a:prstGeom>
          <a:solidFill>
            <a:schemeClr val="accent2"/>
          </a:solidFill>
          <a:ln/>
        </p:spPr>
      </p:sp>
      <p:sp>
        <p:nvSpPr>
          <p:cNvPr id="15" name="card-41"/>
          <p:cNvSpPr/>
          <p:nvPr/>
        </p:nvSpPr>
        <p:spPr>
          <a:xfrm>
            <a:off x="6301588" y="1463040"/>
            <a:ext cx="2464994" cy="3291840"/>
          </a:xfrm>
          <a:prstGeom prst="roundRect">
            <a:avLst>
              <a:gd name="adj" fmla="val 4451"/>
            </a:avLst>
          </a:prstGeom>
          <a:solidFill>
            <a:schemeClr val="bg2"/>
          </a:solidFill>
          <a:ln/>
        </p:spPr>
      </p:sp>
      <p:sp>
        <p:nvSpPr>
          <p:cNvPr id="16" name="icon-circle-42"/>
          <p:cNvSpPr/>
          <p:nvPr/>
        </p:nvSpPr>
        <p:spPr>
          <a:xfrm>
            <a:off x="7122605" y="1737360"/>
            <a:ext cx="822960" cy="822960"/>
          </a:xfrm>
          <a:prstGeom prst="ellipse">
            <a:avLst/>
          </a:prstGeom>
          <a:solidFill>
            <a:schemeClr val="accent1"/>
          </a:solidFill>
          <a:ln/>
        </p:spPr>
      </p:sp>
      <p:pic>
        <p:nvPicPr>
          <p:cNvPr id="17" name="icon-43" descr="preencoded.png">    </p:cNvPr>
          <p:cNvPicPr>
            <a:picLocks noChangeAspect="1"/>
          </p:cNvPicPr>
          <p:nvPr/>
        </p:nvPicPr>
        <p:blipFill>
          <a:blip r:embed="rId3"/>
          <a:stretch>
            <a:fillRect/>
          </a:stretch>
        </p:blipFill>
        <p:spPr>
          <a:xfrm>
            <a:off x="7328345" y="1943100"/>
            <a:ext cx="411480" cy="411480"/>
          </a:xfrm>
          <a:prstGeom prst="rect">
            <a:avLst/>
          </a:prstGeom>
        </p:spPr>
      </p:pic>
      <p:sp>
        <p:nvSpPr>
          <p:cNvPr id="18" name="Text 13"/>
          <p:cNvSpPr txBox="1"/>
          <p:nvPr/>
        </p:nvSpPr>
        <p:spPr>
          <a:xfrm>
            <a:off x="6530188" y="2743200"/>
            <a:ext cx="2007794" cy="457200"/>
          </a:xfrm>
          <a:prstGeom prst="rect">
            <a:avLst/>
          </a:prstGeom>
          <a:noFill/>
          <a:ln/>
        </p:spPr>
        <p:txBody>
          <a:bodyPr wrap="square" lIns="0" tIns="0" rIns="0" bIns="0" rtlCol="0" anchor="ctr"/>
          <a:lstStyle/>
          <a:p>
            <a:pPr algn="ctr" indent="0" marL="0">
              <a:buNone/>
            </a:pPr>
            <a:r>
              <a:rPr lang="en-US" sz="1800" b="1" dirty="0">
                <a:solidFill>
                  <a:schemeClr val="tx2"/>
                </a:solidFill>
              </a:rPr>
              <a:t>3. Calendar</a:t>
            </a:r>
            <a:endParaRPr lang="en-US" sz="1800" dirty="0"/>
          </a:p>
        </p:txBody>
      </p:sp>
      <p:sp>
        <p:nvSpPr>
          <p:cNvPr id="19" name="Text 14"/>
          <p:cNvSpPr txBox="1"/>
          <p:nvPr/>
        </p:nvSpPr>
        <p:spPr>
          <a:xfrm>
            <a:off x="6530188" y="3246120"/>
            <a:ext cx="2007794" cy="1371600"/>
          </a:xfrm>
          <a:prstGeom prst="rect">
            <a:avLst/>
          </a:prstGeom>
          <a:noFill/>
          <a:ln/>
        </p:spPr>
        <p:txBody>
          <a:bodyPr wrap="square" lIns="0" tIns="0" rIns="0" bIns="0" rtlCol="0" anchor="t"/>
          <a:lstStyle/>
          <a:p>
            <a:pPr indent="0" marL="0">
              <a:buNone/>
            </a:pPr>
            <a:r>
              <a:rPr lang="en-US" sz="1400" dirty="0">
                <a:solidFill>
                  <a:schemeClr val="tx1"/>
                </a:solidFill>
              </a:rPr>
              <a:t>Hourly series with cyclic hour and weekday, weekend flag, Thai public holiday flag</a:t>
            </a:r>
            <a:endParaRPr lang="en-US" sz="1400" dirty="0"/>
          </a:p>
        </p:txBody>
      </p:sp>
      <p:sp>
        <p:nvSpPr>
          <p:cNvPr id="20" name="arrow-44"/>
          <p:cNvSpPr/>
          <p:nvPr/>
        </p:nvSpPr>
        <p:spPr>
          <a:xfrm>
            <a:off x="8830589" y="2926080"/>
            <a:ext cx="283464" cy="365760"/>
          </a:xfrm>
          <a:prstGeom prst="rightArrow">
            <a:avLst/>
          </a:prstGeom>
          <a:solidFill>
            <a:schemeClr val="accent2"/>
          </a:solidFill>
          <a:ln/>
        </p:spPr>
      </p:sp>
      <p:sp>
        <p:nvSpPr>
          <p:cNvPr id="21" name="card-45"/>
          <p:cNvSpPr/>
          <p:nvPr/>
        </p:nvSpPr>
        <p:spPr>
          <a:xfrm>
            <a:off x="9178061" y="1463040"/>
            <a:ext cx="2464994" cy="3291840"/>
          </a:xfrm>
          <a:prstGeom prst="roundRect">
            <a:avLst>
              <a:gd name="adj" fmla="val 4451"/>
            </a:avLst>
          </a:prstGeom>
          <a:solidFill>
            <a:schemeClr val="bg2"/>
          </a:solidFill>
          <a:ln/>
        </p:spPr>
      </p:sp>
      <p:sp>
        <p:nvSpPr>
          <p:cNvPr id="22" name="icon-circle-46"/>
          <p:cNvSpPr/>
          <p:nvPr/>
        </p:nvSpPr>
        <p:spPr>
          <a:xfrm>
            <a:off x="9999078" y="1737360"/>
            <a:ext cx="822960" cy="822960"/>
          </a:xfrm>
          <a:prstGeom prst="ellipse">
            <a:avLst/>
          </a:prstGeom>
          <a:solidFill>
            <a:schemeClr val="accent1"/>
          </a:solidFill>
          <a:ln/>
        </p:spPr>
      </p:sp>
      <p:pic>
        <p:nvPicPr>
          <p:cNvPr id="23" name="icon-47" descr="preencoded.png">    </p:cNvPr>
          <p:cNvPicPr>
            <a:picLocks noChangeAspect="1"/>
          </p:cNvPicPr>
          <p:nvPr/>
        </p:nvPicPr>
        <p:blipFill>
          <a:blip r:embed="rId4"/>
          <a:stretch>
            <a:fillRect/>
          </a:stretch>
        </p:blipFill>
        <p:spPr>
          <a:xfrm>
            <a:off x="10204818" y="1943100"/>
            <a:ext cx="411480" cy="411480"/>
          </a:xfrm>
          <a:prstGeom prst="rect">
            <a:avLst/>
          </a:prstGeom>
        </p:spPr>
      </p:pic>
      <p:sp>
        <p:nvSpPr>
          <p:cNvPr id="24" name="Text 18"/>
          <p:cNvSpPr txBox="1"/>
          <p:nvPr/>
        </p:nvSpPr>
        <p:spPr>
          <a:xfrm>
            <a:off x="9406661" y="2743200"/>
            <a:ext cx="2007794" cy="457200"/>
          </a:xfrm>
          <a:prstGeom prst="rect">
            <a:avLst/>
          </a:prstGeom>
          <a:noFill/>
          <a:ln/>
        </p:spPr>
        <p:txBody>
          <a:bodyPr wrap="square" lIns="0" tIns="0" rIns="0" bIns="0" rtlCol="0" anchor="ctr"/>
          <a:lstStyle/>
          <a:p>
            <a:pPr algn="ctr" indent="0" marL="0">
              <a:buNone/>
            </a:pPr>
            <a:r>
              <a:rPr lang="en-US" sz="1800" b="1" dirty="0">
                <a:solidFill>
                  <a:schemeClr val="tx2"/>
                </a:solidFill>
              </a:rPr>
              <a:t>4. Weekly memory</a:t>
            </a:r>
            <a:endParaRPr lang="en-US" sz="1800" dirty="0"/>
          </a:p>
        </p:txBody>
      </p:sp>
      <p:sp>
        <p:nvSpPr>
          <p:cNvPr id="25" name="Text 19"/>
          <p:cNvSpPr txBox="1"/>
          <p:nvPr/>
        </p:nvSpPr>
        <p:spPr>
          <a:xfrm>
            <a:off x="9406661" y="3246120"/>
            <a:ext cx="2007794" cy="1371600"/>
          </a:xfrm>
          <a:prstGeom prst="rect">
            <a:avLst/>
          </a:prstGeom>
          <a:noFill/>
          <a:ln/>
        </p:spPr>
        <p:txBody>
          <a:bodyPr wrap="square" lIns="0" tIns="0" rIns="0" bIns="0" rtlCol="0" anchor="t"/>
          <a:lstStyle/>
          <a:p>
            <a:pPr indent="0" marL="0">
              <a:buNone/>
            </a:pPr>
            <a:r>
              <a:rPr lang="en-US" sz="1400" dirty="0">
                <a:solidFill>
                  <a:schemeClr val="tx1"/>
                </a:solidFill>
              </a:rPr>
              <a:t>Load at the same hour last week, and whether that day was a holiday</a:t>
            </a:r>
            <a:endParaRPr lang="en-US" sz="1400" dirty="0"/>
          </a:p>
        </p:txBody>
      </p:sp>
      <p:sp>
        <p:nvSpPr>
          <p:cNvPr id="26" name="Text 20"/>
          <p:cNvSpPr txBox="1"/>
          <p:nvPr/>
        </p:nvSpPr>
        <p:spPr>
          <a:xfrm>
            <a:off x="548640" y="5120640"/>
            <a:ext cx="11094415" cy="822960"/>
          </a:xfrm>
          <a:prstGeom prst="rect">
            <a:avLst/>
          </a:prstGeom>
          <a:noFill/>
          <a:ln/>
        </p:spPr>
        <p:txBody>
          <a:bodyPr wrap="square" lIns="0" tIns="0" rIns="0" bIns="0" rtlCol="0" anchor="ctr"/>
          <a:lstStyle/>
          <a:p>
            <a:pPr indent="0" marL="0">
              <a:buNone/>
            </a:pPr>
            <a:r>
              <a:rPr lang="en-US" sz="1600" i="1" dirty="0">
                <a:solidFill>
                  <a:schemeClr val="accent1"/>
                </a:solidFill>
              </a:rPr>
              <a:t>Holiday flags matter: on the 14 Oct 2019 holiday the model forecast about 136 kW at 8 am (actual 91 kW), where "same hour last week" said 661 kW.</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Forecast model: LSTM, 24 hours ahead</a:t>
            </a:r>
            <a:endParaRPr lang="en-US" sz="3200" dirty="0"/>
          </a:p>
        </p:txBody>
      </p:sp>
      <p:sp>
        <p:nvSpPr>
          <p:cNvPr id="3" name="model-box-48"/>
          <p:cNvSpPr/>
          <p:nvPr/>
        </p:nvSpPr>
        <p:spPr>
          <a:xfrm>
            <a:off x="548640" y="1417320"/>
            <a:ext cx="2286000" cy="1005840"/>
          </a:xfrm>
          <a:prstGeom prst="roundRect">
            <a:avLst>
              <a:gd name="adj" fmla="val 9091"/>
            </a:avLst>
          </a:prstGeom>
          <a:solidFill>
            <a:schemeClr val="bg2"/>
          </a:solidFill>
          <a:ln/>
        </p:spPr>
      </p:sp>
      <p:sp>
        <p:nvSpPr>
          <p:cNvPr id="4" name="Text 2"/>
          <p:cNvSpPr txBox="1"/>
          <p:nvPr/>
        </p:nvSpPr>
        <p:spPr>
          <a:xfrm>
            <a:off x="548640" y="1417320"/>
            <a:ext cx="2286000" cy="1005840"/>
          </a:xfrm>
          <a:prstGeom prst="rect">
            <a:avLst/>
          </a:prstGeom>
          <a:noFill/>
          <a:ln/>
        </p:spPr>
        <p:txBody>
          <a:bodyPr wrap="square" lIns="635" tIns="635" rIns="635" bIns="635" rtlCol="0" anchor="ctr"/>
          <a:lstStyle/>
          <a:p>
            <a:pPr algn="ctr" indent="0" marL="0">
              <a:buNone/>
            </a:pPr>
            <a:r>
              <a:rPr lang="en-US" sz="1400" b="1" dirty="0">
                <a:solidFill>
                  <a:schemeClr val="tx2"/>
                </a:solidFill>
              </a:rPr>
              <a:t>Past 7 days</a:t>
            </a:r>
            <a:endParaRPr lang="en-US" sz="1400" dirty="0"/>
          </a:p>
          <a:p>
            <a:pPr algn="ctr" indent="0" marL="0">
              <a:buNone/>
            </a:pPr>
            <a:r>
              <a:rPr lang="en-US" sz="1400" b="1" dirty="0">
                <a:solidFill>
                  <a:schemeClr val="tx2"/>
                </a:solidFill>
              </a:rPr>
              <a:t>168 hours x 8 features</a:t>
            </a:r>
            <a:endParaRPr lang="en-US" sz="1400" dirty="0"/>
          </a:p>
        </p:txBody>
      </p:sp>
      <p:sp>
        <p:nvSpPr>
          <p:cNvPr id="5" name="arrow-49"/>
          <p:cNvSpPr/>
          <p:nvPr/>
        </p:nvSpPr>
        <p:spPr>
          <a:xfrm>
            <a:off x="2926080" y="1783080"/>
            <a:ext cx="365760" cy="274320"/>
          </a:xfrm>
          <a:prstGeom prst="rightArrow">
            <a:avLst/>
          </a:prstGeom>
          <a:solidFill>
            <a:schemeClr val="accent4"/>
          </a:solidFill>
          <a:ln/>
        </p:spPr>
      </p:sp>
      <p:sp>
        <p:nvSpPr>
          <p:cNvPr id="6" name="model-box-50"/>
          <p:cNvSpPr/>
          <p:nvPr/>
        </p:nvSpPr>
        <p:spPr>
          <a:xfrm>
            <a:off x="3383280" y="1417320"/>
            <a:ext cx="2011680" cy="1005840"/>
          </a:xfrm>
          <a:prstGeom prst="roundRect">
            <a:avLst>
              <a:gd name="adj" fmla="val 9091"/>
            </a:avLst>
          </a:prstGeom>
          <a:solidFill>
            <a:schemeClr val="accent1"/>
          </a:solidFill>
          <a:ln/>
        </p:spPr>
      </p:sp>
      <p:sp>
        <p:nvSpPr>
          <p:cNvPr id="7" name="Text 5"/>
          <p:cNvSpPr txBox="1"/>
          <p:nvPr/>
        </p:nvSpPr>
        <p:spPr>
          <a:xfrm>
            <a:off x="3383280" y="1417320"/>
            <a:ext cx="2011680" cy="1005840"/>
          </a:xfrm>
          <a:prstGeom prst="rect">
            <a:avLst/>
          </a:prstGeom>
          <a:noFill/>
          <a:ln/>
        </p:spPr>
        <p:txBody>
          <a:bodyPr wrap="square" lIns="635" tIns="635" rIns="635" bIns="635" rtlCol="0" anchor="ctr"/>
          <a:lstStyle/>
          <a:p>
            <a:pPr algn="ctr" indent="0" marL="0">
              <a:buNone/>
            </a:pPr>
            <a:r>
              <a:rPr lang="en-US" sz="1400" b="1" dirty="0">
                <a:solidFill>
                  <a:schemeClr val="bg1"/>
                </a:solidFill>
              </a:rPr>
              <a:t>LSTM 128</a:t>
            </a:r>
            <a:endParaRPr lang="en-US" sz="1400" dirty="0"/>
          </a:p>
          <a:p>
            <a:pPr algn="ctr" indent="0" marL="0">
              <a:buNone/>
            </a:pPr>
            <a:r>
              <a:rPr lang="en-US" sz="1400" b="1" dirty="0">
                <a:solidFill>
                  <a:schemeClr val="bg1"/>
                </a:solidFill>
              </a:rPr>
              <a:t>then LSTM 64</a:t>
            </a:r>
            <a:endParaRPr lang="en-US" sz="1400" dirty="0"/>
          </a:p>
        </p:txBody>
      </p:sp>
      <p:sp>
        <p:nvSpPr>
          <p:cNvPr id="8" name="model-box-51"/>
          <p:cNvSpPr/>
          <p:nvPr/>
        </p:nvSpPr>
        <p:spPr>
          <a:xfrm>
            <a:off x="548640" y="2788920"/>
            <a:ext cx="2286000" cy="1005840"/>
          </a:xfrm>
          <a:prstGeom prst="roundRect">
            <a:avLst>
              <a:gd name="adj" fmla="val 9091"/>
            </a:avLst>
          </a:prstGeom>
          <a:solidFill>
            <a:schemeClr val="bg2"/>
          </a:solidFill>
          <a:ln/>
        </p:spPr>
      </p:sp>
      <p:sp>
        <p:nvSpPr>
          <p:cNvPr id="9" name="Text 7"/>
          <p:cNvSpPr txBox="1"/>
          <p:nvPr/>
        </p:nvSpPr>
        <p:spPr>
          <a:xfrm>
            <a:off x="548640" y="2788920"/>
            <a:ext cx="2286000" cy="1005840"/>
          </a:xfrm>
          <a:prstGeom prst="rect">
            <a:avLst/>
          </a:prstGeom>
          <a:noFill/>
          <a:ln/>
        </p:spPr>
        <p:txBody>
          <a:bodyPr wrap="square" lIns="635" tIns="635" rIns="635" bIns="635" rtlCol="0" anchor="ctr"/>
          <a:lstStyle/>
          <a:p>
            <a:pPr algn="ctr" indent="0" marL="0">
              <a:buNone/>
            </a:pPr>
            <a:r>
              <a:rPr lang="en-US" sz="1400" b="1" dirty="0">
                <a:solidFill>
                  <a:schemeClr val="tx2"/>
                </a:solidFill>
              </a:rPr>
              <a:t>Next 24 hours (known)</a:t>
            </a:r>
            <a:endParaRPr lang="en-US" sz="1400" dirty="0"/>
          </a:p>
          <a:p>
            <a:pPr algn="ctr" indent="0" marL="0">
              <a:buNone/>
            </a:pPr>
            <a:r>
              <a:rPr lang="en-US" sz="1400" b="1" dirty="0">
                <a:solidFill>
                  <a:schemeClr val="tx2"/>
                </a:solidFill>
              </a:rPr>
              <a:t>24 hours x 8 features</a:t>
            </a:r>
            <a:endParaRPr lang="en-US" sz="1400" dirty="0"/>
          </a:p>
        </p:txBody>
      </p:sp>
      <p:sp>
        <p:nvSpPr>
          <p:cNvPr id="10" name="arrow-52"/>
          <p:cNvSpPr/>
          <p:nvPr/>
        </p:nvSpPr>
        <p:spPr>
          <a:xfrm>
            <a:off x="2926080" y="3154680"/>
            <a:ext cx="365760" cy="274320"/>
          </a:xfrm>
          <a:prstGeom prst="rightArrow">
            <a:avLst/>
          </a:prstGeom>
          <a:solidFill>
            <a:schemeClr val="accent4"/>
          </a:solidFill>
          <a:ln/>
        </p:spPr>
      </p:sp>
      <p:sp>
        <p:nvSpPr>
          <p:cNvPr id="11" name="model-box-53"/>
          <p:cNvSpPr/>
          <p:nvPr/>
        </p:nvSpPr>
        <p:spPr>
          <a:xfrm>
            <a:off x="3383280" y="2788920"/>
            <a:ext cx="2011680" cy="1005840"/>
          </a:xfrm>
          <a:prstGeom prst="roundRect">
            <a:avLst>
              <a:gd name="adj" fmla="val 9091"/>
            </a:avLst>
          </a:prstGeom>
          <a:solidFill>
            <a:schemeClr val="accent6"/>
          </a:solidFill>
          <a:ln/>
        </p:spPr>
      </p:sp>
      <p:sp>
        <p:nvSpPr>
          <p:cNvPr id="12" name="Text 10"/>
          <p:cNvSpPr txBox="1"/>
          <p:nvPr/>
        </p:nvSpPr>
        <p:spPr>
          <a:xfrm>
            <a:off x="3383280" y="2788920"/>
            <a:ext cx="2011680" cy="1005840"/>
          </a:xfrm>
          <a:prstGeom prst="rect">
            <a:avLst/>
          </a:prstGeom>
          <a:noFill/>
          <a:ln/>
        </p:spPr>
        <p:txBody>
          <a:bodyPr wrap="square" lIns="635" tIns="635" rIns="635" bIns="635" rtlCol="0" anchor="ctr"/>
          <a:lstStyle/>
          <a:p>
            <a:pPr algn="ctr" indent="0" marL="0">
              <a:buNone/>
            </a:pPr>
            <a:r>
              <a:rPr lang="en-US" sz="1400" b="1" dirty="0">
                <a:solidFill>
                  <a:schemeClr val="tx2"/>
                </a:solidFill>
              </a:rPr>
              <a:t>Flatten</a:t>
            </a:r>
            <a:endParaRPr lang="en-US" sz="1400" dirty="0"/>
          </a:p>
        </p:txBody>
      </p:sp>
      <p:sp>
        <p:nvSpPr>
          <p:cNvPr id="13" name="arrow-54"/>
          <p:cNvSpPr/>
          <p:nvPr/>
        </p:nvSpPr>
        <p:spPr>
          <a:xfrm>
            <a:off x="5486400" y="2468880"/>
            <a:ext cx="365760" cy="274320"/>
          </a:xfrm>
          <a:prstGeom prst="rightArrow">
            <a:avLst/>
          </a:prstGeom>
          <a:solidFill>
            <a:schemeClr val="accent4"/>
          </a:solidFill>
          <a:ln/>
        </p:spPr>
      </p:sp>
      <p:sp>
        <p:nvSpPr>
          <p:cNvPr id="14" name="model-box-55"/>
          <p:cNvSpPr/>
          <p:nvPr/>
        </p:nvSpPr>
        <p:spPr>
          <a:xfrm>
            <a:off x="5943600" y="2057400"/>
            <a:ext cx="1463040" cy="1097280"/>
          </a:xfrm>
          <a:prstGeom prst="roundRect">
            <a:avLst>
              <a:gd name="adj" fmla="val 8333"/>
            </a:avLst>
          </a:prstGeom>
          <a:solidFill>
            <a:schemeClr val="tx2"/>
          </a:solidFill>
          <a:ln/>
        </p:spPr>
      </p:sp>
      <p:sp>
        <p:nvSpPr>
          <p:cNvPr id="15" name="Text 13"/>
          <p:cNvSpPr txBox="1"/>
          <p:nvPr/>
        </p:nvSpPr>
        <p:spPr>
          <a:xfrm>
            <a:off x="5943600" y="2057400"/>
            <a:ext cx="1463040" cy="1097280"/>
          </a:xfrm>
          <a:prstGeom prst="rect">
            <a:avLst/>
          </a:prstGeom>
          <a:noFill/>
          <a:ln/>
        </p:spPr>
        <p:txBody>
          <a:bodyPr wrap="square" lIns="635" tIns="635" rIns="635" bIns="635" rtlCol="0" anchor="ctr"/>
          <a:lstStyle/>
          <a:p>
            <a:pPr algn="ctr" indent="0" marL="0">
              <a:buNone/>
            </a:pPr>
            <a:r>
              <a:rPr lang="en-US" sz="1400" b="1" dirty="0">
                <a:solidFill>
                  <a:schemeClr val="bg1"/>
                </a:solidFill>
              </a:rPr>
              <a:t>Dense 128</a:t>
            </a:r>
            <a:endParaRPr lang="en-US" sz="1400" dirty="0"/>
          </a:p>
        </p:txBody>
      </p:sp>
      <p:sp>
        <p:nvSpPr>
          <p:cNvPr id="16" name="arrow-56"/>
          <p:cNvSpPr/>
          <p:nvPr/>
        </p:nvSpPr>
        <p:spPr>
          <a:xfrm>
            <a:off x="7498080" y="2468880"/>
            <a:ext cx="365760" cy="274320"/>
          </a:xfrm>
          <a:prstGeom prst="rightArrow">
            <a:avLst/>
          </a:prstGeom>
          <a:solidFill>
            <a:schemeClr val="accent4"/>
          </a:solidFill>
          <a:ln/>
        </p:spPr>
      </p:sp>
      <p:sp>
        <p:nvSpPr>
          <p:cNvPr id="17" name="model-box-57"/>
          <p:cNvSpPr/>
          <p:nvPr/>
        </p:nvSpPr>
        <p:spPr>
          <a:xfrm>
            <a:off x="7955280" y="2057400"/>
            <a:ext cx="1828800" cy="1097280"/>
          </a:xfrm>
          <a:prstGeom prst="roundRect">
            <a:avLst>
              <a:gd name="adj" fmla="val 8333"/>
            </a:avLst>
          </a:prstGeom>
          <a:solidFill>
            <a:schemeClr val="accent2"/>
          </a:solidFill>
          <a:ln/>
        </p:spPr>
      </p:sp>
      <p:sp>
        <p:nvSpPr>
          <p:cNvPr id="18" name="Text 16"/>
          <p:cNvSpPr txBox="1"/>
          <p:nvPr/>
        </p:nvSpPr>
        <p:spPr>
          <a:xfrm>
            <a:off x="7955280" y="2057400"/>
            <a:ext cx="1828800" cy="1097280"/>
          </a:xfrm>
          <a:prstGeom prst="rect">
            <a:avLst/>
          </a:prstGeom>
          <a:noFill/>
          <a:ln/>
        </p:spPr>
        <p:txBody>
          <a:bodyPr wrap="square" lIns="635" tIns="635" rIns="635" bIns="635" rtlCol="0" anchor="ctr"/>
          <a:lstStyle/>
          <a:p>
            <a:pPr algn="ctr" indent="0" marL="0">
              <a:buNone/>
            </a:pPr>
            <a:r>
              <a:rPr lang="en-US" sz="1400" b="1" dirty="0">
                <a:solidFill>
                  <a:schemeClr val="tx1"/>
                </a:solidFill>
              </a:rPr>
              <a:t>24 hourly</a:t>
            </a:r>
            <a:endParaRPr lang="en-US" sz="1400" dirty="0"/>
          </a:p>
          <a:p>
            <a:pPr algn="ctr" indent="0" marL="0">
              <a:buNone/>
            </a:pPr>
            <a:r>
              <a:rPr lang="en-US" sz="1400" b="1" dirty="0">
                <a:solidFill>
                  <a:schemeClr val="tx1"/>
                </a:solidFill>
              </a:rPr>
              <a:t>kW values</a:t>
            </a:r>
            <a:endParaRPr lang="en-US" sz="1400" dirty="0"/>
          </a:p>
        </p:txBody>
      </p:sp>
      <p:sp>
        <p:nvSpPr>
          <p:cNvPr id="19" name="Text 17"/>
          <p:cNvSpPr txBox="1"/>
          <p:nvPr/>
        </p:nvSpPr>
        <p:spPr>
          <a:xfrm>
            <a:off x="548640" y="4160520"/>
            <a:ext cx="11094415" cy="201168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Past inputs: load, temperature, hour and weekday (cyclic), weekend, holiday</a:t>
            </a:r>
            <a:endParaRPr lang="en-US" sz="1500" dirty="0"/>
          </a:p>
          <a:p>
            <a:pPr marL="342900" indent="-342900">
              <a:spcAft>
                <a:spcPts val="800"/>
              </a:spcAft>
              <a:buSzPct val="100000"/>
              <a:buChar char="•"/>
            </a:pPr>
            <a:r>
              <a:rPr lang="en-US" sz="1500" dirty="0">
                <a:solidFill>
                  <a:schemeClr val="tx1"/>
                </a:solidFill>
              </a:rPr>
              <a:t>Future inputs: what is known in advance, including last week's same-hour load</a:t>
            </a:r>
            <a:endParaRPr lang="en-US" sz="1500" dirty="0"/>
          </a:p>
          <a:p>
            <a:pPr marL="342900" indent="-342900">
              <a:spcAft>
                <a:spcPts val="800"/>
              </a:spcAft>
              <a:buSzPct val="100000"/>
              <a:buChar char="•"/>
            </a:pPr>
            <a:r>
              <a:rPr lang="en-US" sz="1500" dirty="0">
                <a:solidFill>
                  <a:schemeClr val="tx1"/>
                </a:solidFill>
              </a:rPr>
              <a:t>Date-based split 70 / 15 / 15: train Jul 2018 to May 2019, validation Jun to 11 Aug 2019, test 11 Aug to 22 Oct 2019</a:t>
            </a:r>
            <a:endParaRPr lang="en-US" sz="1500" dirty="0"/>
          </a:p>
          <a:p>
            <a:pPr marL="342900" indent="-342900">
              <a:spcAft>
                <a:spcPts val="800"/>
              </a:spcAft>
              <a:buSzPct val="100000"/>
              <a:buChar char="•"/>
            </a:pPr>
            <a:r>
              <a:rPr lang="en-US" sz="1500" dirty="0">
                <a:solidFill>
                  <a:schemeClr val="tx1"/>
                </a:solidFill>
              </a:rPr>
              <a:t>Model size and lookback chosen on validation error only; test period scored once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Forecast results: 20% lower error than the baseline</a:t>
            </a:r>
            <a:endParaRPr lang="en-US" sz="3200" dirty="0"/>
          </a:p>
        </p:txBody>
      </p:sp>
      <p:graphicFrame>
        <p:nvGraphicFramePr>
          <p:cNvPr id="3" name="forecast-error-chart" descr=""/>
          <p:cNvGraphicFramePr/>
          <p:nvPr/>
        </p:nvGraphicFramePr>
        <p:xfrm>
          <a:off x="548640" y="1280160"/>
          <a:ext cx="420624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4983480"/>
            <a:ext cx="4206240" cy="128016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MAPE 20.5% vs 24.0%</a:t>
            </a:r>
            <a:endParaRPr lang="en-US" sz="1400" dirty="0"/>
          </a:p>
          <a:p>
            <a:pPr indent="0" marL="0">
              <a:spcAft>
                <a:spcPts val="400"/>
              </a:spcAft>
              <a:buNone/>
            </a:pPr>
            <a:r>
              <a:rPr lang="en-US" sz="1400" dirty="0">
                <a:solidFill>
                  <a:schemeClr val="tx1"/>
                </a:solidFill>
              </a:rPr>
              <a:t>A first version without holiday and future inputs scored MAE 46.8 kW, worse than the baseline. Adding those inputs fixed it.</a:t>
            </a:r>
            <a:endParaRPr lang="en-US" sz="1400" dirty="0"/>
          </a:p>
        </p:txBody>
      </p:sp>
      <p:pic>
        <p:nvPicPr>
          <p:cNvPr id="5" name="image-58" descr="D:\Projects\AURA_Cloud_Project_2026\results\model\forecast.png">    </p:cNvPr>
          <p:cNvPicPr>
            <a:picLocks noChangeAspect="1"/>
          </p:cNvPicPr>
          <p:nvPr/>
        </p:nvPicPr>
        <p:blipFill>
          <a:blip r:embed="rId2"/>
          <a:stretch>
            <a:fillRect/>
          </a:stretch>
        </p:blipFill>
        <p:spPr>
          <a:xfrm>
            <a:off x="5120640" y="1574902"/>
            <a:ext cx="6522415" cy="4348277"/>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Allocation and carbon-aware scheduling</a:t>
            </a:r>
            <a:endParaRPr lang="en-US" sz="3200" dirty="0"/>
          </a:p>
        </p:txBody>
      </p:sp>
      <p:sp>
        <p:nvSpPr>
          <p:cNvPr id="3" name="card-59"/>
          <p:cNvSpPr/>
          <p:nvPr/>
        </p:nvSpPr>
        <p:spPr>
          <a:xfrm>
            <a:off x="548640" y="1280160"/>
            <a:ext cx="5364328" cy="2240280"/>
          </a:xfrm>
          <a:prstGeom prst="roundRect">
            <a:avLst>
              <a:gd name="adj" fmla="val 4898"/>
            </a:avLst>
          </a:prstGeom>
          <a:solidFill>
            <a:schemeClr val="bg2"/>
          </a:solidFill>
          <a:ln/>
        </p:spPr>
      </p:sp>
      <p:sp>
        <p:nvSpPr>
          <p:cNvPr id="4" name="icon-circle-60"/>
          <p:cNvSpPr/>
          <p:nvPr/>
        </p:nvSpPr>
        <p:spPr>
          <a:xfrm>
            <a:off x="868680" y="1645920"/>
            <a:ext cx="868680" cy="868680"/>
          </a:xfrm>
          <a:prstGeom prst="ellipse">
            <a:avLst/>
          </a:prstGeom>
          <a:solidFill>
            <a:schemeClr val="accent1"/>
          </a:solidFill>
          <a:ln/>
        </p:spPr>
      </p:sp>
      <p:pic>
        <p:nvPicPr>
          <p:cNvPr id="5" name="icon-61" descr="preencoded.png">    </p:cNvPr>
          <p:cNvPicPr>
            <a:picLocks noChangeAspect="1"/>
          </p:cNvPicPr>
          <p:nvPr/>
        </p:nvPicPr>
        <p:blipFill>
          <a:blip r:embed="rId1"/>
          <a:stretch>
            <a:fillRect/>
          </a:stretch>
        </p:blipFill>
        <p:spPr>
          <a:xfrm>
            <a:off x="1085850" y="1863090"/>
            <a:ext cx="434340" cy="434340"/>
          </a:xfrm>
          <a:prstGeom prst="rect">
            <a:avLst/>
          </a:prstGeom>
        </p:spPr>
      </p:pic>
      <p:sp>
        <p:nvSpPr>
          <p:cNvPr id="6" name="Text 3"/>
          <p:cNvSpPr txBox="1"/>
          <p:nvPr/>
        </p:nvSpPr>
        <p:spPr>
          <a:xfrm>
            <a:off x="2011680" y="1645920"/>
            <a:ext cx="3626968" cy="502920"/>
          </a:xfrm>
          <a:prstGeom prst="rect">
            <a:avLst/>
          </a:prstGeom>
          <a:noFill/>
          <a:ln/>
        </p:spPr>
        <p:txBody>
          <a:bodyPr wrap="square" lIns="0" tIns="0" rIns="0" bIns="0" rtlCol="0" anchor="ctr"/>
          <a:lstStyle/>
          <a:p>
            <a:pPr indent="0" marL="0">
              <a:buNone/>
            </a:pPr>
            <a:r>
              <a:rPr lang="en-US" sz="2000" b="1" dirty="0">
                <a:solidFill>
                  <a:schemeClr val="tx2"/>
                </a:solidFill>
              </a:rPr>
              <a:t>1  Forecast</a:t>
            </a:r>
            <a:endParaRPr lang="en-US" sz="2000" dirty="0"/>
          </a:p>
        </p:txBody>
      </p:sp>
      <p:sp>
        <p:nvSpPr>
          <p:cNvPr id="7" name="Text 4"/>
          <p:cNvSpPr txBox="1"/>
          <p:nvPr/>
        </p:nvSpPr>
        <p:spPr>
          <a:xfrm>
            <a:off x="2011680" y="2194560"/>
            <a:ext cx="3626968" cy="1188720"/>
          </a:xfrm>
          <a:prstGeom prst="rect">
            <a:avLst/>
          </a:prstGeom>
          <a:noFill/>
          <a:ln/>
        </p:spPr>
        <p:txBody>
          <a:bodyPr wrap="square" lIns="0" tIns="0" rIns="0" bIns="0" rtlCol="0" anchor="t"/>
          <a:lstStyle/>
          <a:p>
            <a:pPr indent="0" marL="0">
              <a:buNone/>
            </a:pPr>
            <a:r>
              <a:rPr lang="en-US" sz="1500" dirty="0">
                <a:solidFill>
                  <a:schemeClr val="tx1"/>
                </a:solidFill>
              </a:rPr>
              <a:t>Every midnight, forecast the next 24 hours of campus demand</a:t>
            </a:r>
            <a:endParaRPr lang="en-US" sz="1500" dirty="0"/>
          </a:p>
        </p:txBody>
      </p:sp>
      <p:sp>
        <p:nvSpPr>
          <p:cNvPr id="8" name="card-62"/>
          <p:cNvSpPr/>
          <p:nvPr/>
        </p:nvSpPr>
        <p:spPr>
          <a:xfrm>
            <a:off x="6278728" y="1280160"/>
            <a:ext cx="5364328" cy="2240280"/>
          </a:xfrm>
          <a:prstGeom prst="roundRect">
            <a:avLst>
              <a:gd name="adj" fmla="val 4898"/>
            </a:avLst>
          </a:prstGeom>
          <a:solidFill>
            <a:schemeClr val="bg2"/>
          </a:solidFill>
          <a:ln/>
        </p:spPr>
      </p:sp>
      <p:sp>
        <p:nvSpPr>
          <p:cNvPr id="9" name="icon-circle-63"/>
          <p:cNvSpPr/>
          <p:nvPr/>
        </p:nvSpPr>
        <p:spPr>
          <a:xfrm>
            <a:off x="6598768" y="1645920"/>
            <a:ext cx="868680" cy="868680"/>
          </a:xfrm>
          <a:prstGeom prst="ellipse">
            <a:avLst/>
          </a:prstGeom>
          <a:solidFill>
            <a:schemeClr val="accent1"/>
          </a:solidFill>
          <a:ln/>
        </p:spPr>
      </p:sp>
      <p:pic>
        <p:nvPicPr>
          <p:cNvPr id="10" name="icon-64" descr="preencoded.png">    </p:cNvPr>
          <p:cNvPicPr>
            <a:picLocks noChangeAspect="1"/>
          </p:cNvPicPr>
          <p:nvPr/>
        </p:nvPicPr>
        <p:blipFill>
          <a:blip r:embed="rId2"/>
          <a:stretch>
            <a:fillRect/>
          </a:stretch>
        </p:blipFill>
        <p:spPr>
          <a:xfrm>
            <a:off x="6815938" y="1863090"/>
            <a:ext cx="434340" cy="434340"/>
          </a:xfrm>
          <a:prstGeom prst="rect">
            <a:avLst/>
          </a:prstGeom>
        </p:spPr>
      </p:pic>
      <p:sp>
        <p:nvSpPr>
          <p:cNvPr id="11" name="Text 7"/>
          <p:cNvSpPr txBox="1"/>
          <p:nvPr/>
        </p:nvSpPr>
        <p:spPr>
          <a:xfrm>
            <a:off x="7741768" y="1645920"/>
            <a:ext cx="3626968" cy="502920"/>
          </a:xfrm>
          <a:prstGeom prst="rect">
            <a:avLst/>
          </a:prstGeom>
          <a:noFill/>
          <a:ln/>
        </p:spPr>
        <p:txBody>
          <a:bodyPr wrap="square" lIns="0" tIns="0" rIns="0" bIns="0" rtlCol="0" anchor="ctr"/>
          <a:lstStyle/>
          <a:p>
            <a:pPr indent="0" marL="0">
              <a:buNone/>
            </a:pPr>
            <a:r>
              <a:rPr lang="en-US" sz="2000" b="1" dirty="0">
                <a:solidFill>
                  <a:schemeClr val="tx2"/>
                </a:solidFill>
              </a:rPr>
              <a:t>2  Right-size</a:t>
            </a:r>
            <a:endParaRPr lang="en-US" sz="2000" dirty="0"/>
          </a:p>
        </p:txBody>
      </p:sp>
      <p:sp>
        <p:nvSpPr>
          <p:cNvPr id="12" name="Text 8"/>
          <p:cNvSpPr txBox="1"/>
          <p:nvPr/>
        </p:nvSpPr>
        <p:spPr>
          <a:xfrm>
            <a:off x="7741768" y="2194560"/>
            <a:ext cx="3626968" cy="1188720"/>
          </a:xfrm>
          <a:prstGeom prst="rect">
            <a:avLst/>
          </a:prstGeom>
          <a:noFill/>
          <a:ln/>
        </p:spPr>
        <p:txBody>
          <a:bodyPr wrap="square" lIns="0" tIns="0" rIns="0" bIns="0" rtlCol="0" anchor="t"/>
          <a:lstStyle/>
          <a:p>
            <a:pPr indent="0" marL="0">
              <a:buNone/>
            </a:pPr>
            <a:r>
              <a:rPr lang="en-US" sz="1500" dirty="0">
                <a:solidFill>
                  <a:schemeClr val="tx1"/>
                </a:solidFill>
              </a:rPr>
              <a:t>Keep forecast demand + 25% + 4 spare servers on, out of 48</a:t>
            </a:r>
            <a:endParaRPr lang="en-US" sz="1500" dirty="0"/>
          </a:p>
        </p:txBody>
      </p:sp>
      <p:sp>
        <p:nvSpPr>
          <p:cNvPr id="13" name="card-65"/>
          <p:cNvSpPr/>
          <p:nvPr/>
        </p:nvSpPr>
        <p:spPr>
          <a:xfrm>
            <a:off x="548640" y="3840480"/>
            <a:ext cx="5364328" cy="2240280"/>
          </a:xfrm>
          <a:prstGeom prst="roundRect">
            <a:avLst>
              <a:gd name="adj" fmla="val 4898"/>
            </a:avLst>
          </a:prstGeom>
          <a:solidFill>
            <a:schemeClr val="bg2"/>
          </a:solidFill>
          <a:ln/>
        </p:spPr>
      </p:sp>
      <p:sp>
        <p:nvSpPr>
          <p:cNvPr id="14" name="icon-circle-66"/>
          <p:cNvSpPr/>
          <p:nvPr/>
        </p:nvSpPr>
        <p:spPr>
          <a:xfrm>
            <a:off x="868680" y="4206240"/>
            <a:ext cx="868680" cy="868680"/>
          </a:xfrm>
          <a:prstGeom prst="ellipse">
            <a:avLst/>
          </a:prstGeom>
          <a:solidFill>
            <a:schemeClr val="accent2"/>
          </a:solidFill>
          <a:ln/>
        </p:spPr>
      </p:sp>
      <p:pic>
        <p:nvPicPr>
          <p:cNvPr id="15" name="icon-67" descr="preencoded.png">    </p:cNvPr>
          <p:cNvPicPr>
            <a:picLocks noChangeAspect="1"/>
          </p:cNvPicPr>
          <p:nvPr/>
        </p:nvPicPr>
        <p:blipFill>
          <a:blip r:embed="rId3"/>
          <a:stretch>
            <a:fillRect/>
          </a:stretch>
        </p:blipFill>
        <p:spPr>
          <a:xfrm>
            <a:off x="1085850" y="4423410"/>
            <a:ext cx="434340" cy="434340"/>
          </a:xfrm>
          <a:prstGeom prst="rect">
            <a:avLst/>
          </a:prstGeom>
        </p:spPr>
      </p:pic>
      <p:sp>
        <p:nvSpPr>
          <p:cNvPr id="16" name="Text 11"/>
          <p:cNvSpPr txBox="1"/>
          <p:nvPr/>
        </p:nvSpPr>
        <p:spPr>
          <a:xfrm>
            <a:off x="2011680" y="4206240"/>
            <a:ext cx="3626968" cy="502920"/>
          </a:xfrm>
          <a:prstGeom prst="rect">
            <a:avLst/>
          </a:prstGeom>
          <a:noFill/>
          <a:ln/>
        </p:spPr>
        <p:txBody>
          <a:bodyPr wrap="square" lIns="0" tIns="0" rIns="0" bIns="0" rtlCol="0" anchor="ctr"/>
          <a:lstStyle/>
          <a:p>
            <a:pPr indent="0" marL="0">
              <a:buNone/>
            </a:pPr>
            <a:r>
              <a:rPr lang="en-US" sz="2000" b="1" dirty="0">
                <a:solidFill>
                  <a:schemeClr val="tx2"/>
                </a:solidFill>
              </a:rPr>
              <a:t>3  Shift</a:t>
            </a:r>
            <a:endParaRPr lang="en-US" sz="2000" dirty="0"/>
          </a:p>
        </p:txBody>
      </p:sp>
      <p:sp>
        <p:nvSpPr>
          <p:cNvPr id="17" name="Text 12"/>
          <p:cNvSpPr txBox="1"/>
          <p:nvPr/>
        </p:nvSpPr>
        <p:spPr>
          <a:xfrm>
            <a:off x="2011680" y="4754880"/>
            <a:ext cx="3626968" cy="1188720"/>
          </a:xfrm>
          <a:prstGeom prst="rect">
            <a:avLst/>
          </a:prstGeom>
          <a:noFill/>
          <a:ln/>
        </p:spPr>
        <p:txBody>
          <a:bodyPr wrap="square" lIns="0" tIns="0" rIns="0" bIns="0" rtlCol="0" anchor="t"/>
          <a:lstStyle/>
          <a:p>
            <a:pPr indent="0" marL="0">
              <a:buNone/>
            </a:pPr>
            <a:r>
              <a:rPr lang="en-US" sz="1500" dirty="0">
                <a:solidFill>
                  <a:schemeClr val="tx1"/>
                </a:solidFill>
              </a:rPr>
              <a:t>Move the deferrable 20% of the day's work into the cleanest grid hours with room</a:t>
            </a:r>
            <a:endParaRPr lang="en-US" sz="1500" dirty="0"/>
          </a:p>
        </p:txBody>
      </p:sp>
      <p:sp>
        <p:nvSpPr>
          <p:cNvPr id="18" name="card-68"/>
          <p:cNvSpPr/>
          <p:nvPr/>
        </p:nvSpPr>
        <p:spPr>
          <a:xfrm>
            <a:off x="6278728" y="3840480"/>
            <a:ext cx="5364328" cy="2240280"/>
          </a:xfrm>
          <a:prstGeom prst="roundRect">
            <a:avLst>
              <a:gd name="adj" fmla="val 4898"/>
            </a:avLst>
          </a:prstGeom>
          <a:solidFill>
            <a:schemeClr val="bg2"/>
          </a:solidFill>
          <a:ln/>
        </p:spPr>
      </p:sp>
      <p:sp>
        <p:nvSpPr>
          <p:cNvPr id="19" name="icon-circle-69"/>
          <p:cNvSpPr/>
          <p:nvPr/>
        </p:nvSpPr>
        <p:spPr>
          <a:xfrm>
            <a:off x="6598768" y="4206240"/>
            <a:ext cx="868680" cy="868680"/>
          </a:xfrm>
          <a:prstGeom prst="ellipse">
            <a:avLst/>
          </a:prstGeom>
          <a:solidFill>
            <a:schemeClr val="accent1"/>
          </a:solidFill>
          <a:ln/>
        </p:spPr>
      </p:sp>
      <p:pic>
        <p:nvPicPr>
          <p:cNvPr id="20" name="icon-70" descr="preencoded.png">    </p:cNvPr>
          <p:cNvPicPr>
            <a:picLocks noChangeAspect="1"/>
          </p:cNvPicPr>
          <p:nvPr/>
        </p:nvPicPr>
        <p:blipFill>
          <a:blip r:embed="rId4"/>
          <a:stretch>
            <a:fillRect/>
          </a:stretch>
        </p:blipFill>
        <p:spPr>
          <a:xfrm>
            <a:off x="6815938" y="4423410"/>
            <a:ext cx="434340" cy="434340"/>
          </a:xfrm>
          <a:prstGeom prst="rect">
            <a:avLst/>
          </a:prstGeom>
        </p:spPr>
      </p:pic>
      <p:sp>
        <p:nvSpPr>
          <p:cNvPr id="21" name="Text 15"/>
          <p:cNvSpPr txBox="1"/>
          <p:nvPr/>
        </p:nvSpPr>
        <p:spPr>
          <a:xfrm>
            <a:off x="7741768" y="4206240"/>
            <a:ext cx="3626968" cy="502920"/>
          </a:xfrm>
          <a:prstGeom prst="rect">
            <a:avLst/>
          </a:prstGeom>
          <a:noFill/>
          <a:ln/>
        </p:spPr>
        <p:txBody>
          <a:bodyPr wrap="square" lIns="0" tIns="0" rIns="0" bIns="0" rtlCol="0" anchor="ctr"/>
          <a:lstStyle/>
          <a:p>
            <a:pPr indent="0" marL="0">
              <a:buNone/>
            </a:pPr>
            <a:r>
              <a:rPr lang="en-US" sz="2000" b="1" dirty="0">
                <a:solidFill>
                  <a:schemeClr val="tx2"/>
                </a:solidFill>
              </a:rPr>
              <a:t>4  React</a:t>
            </a:r>
            <a:endParaRPr lang="en-US" sz="2000" dirty="0"/>
          </a:p>
        </p:txBody>
      </p:sp>
      <p:sp>
        <p:nvSpPr>
          <p:cNvPr id="22" name="Text 16"/>
          <p:cNvSpPr txBox="1"/>
          <p:nvPr/>
        </p:nvSpPr>
        <p:spPr>
          <a:xfrm>
            <a:off x="7741768" y="4754880"/>
            <a:ext cx="3626968" cy="1188720"/>
          </a:xfrm>
          <a:prstGeom prst="rect">
            <a:avLst/>
          </a:prstGeom>
          <a:noFill/>
          <a:ln/>
        </p:spPr>
        <p:txBody>
          <a:bodyPr wrap="square" lIns="0" tIns="0" rIns="0" bIns="0" rtlCol="0" anchor="t"/>
          <a:lstStyle/>
          <a:p>
            <a:pPr indent="0" marL="0">
              <a:buNone/>
            </a:pPr>
            <a:r>
              <a:rPr lang="en-US" sz="1500" dirty="0">
                <a:solidFill>
                  <a:schemeClr val="tx1"/>
                </a:solidFill>
              </a:rPr>
              <a:t>Serve interactive work first; if demand beats the forecast, scale up and log an SLA miss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Simulated savings vs always-on servers</a:t>
            </a:r>
            <a:endParaRPr lang="en-US" sz="3200" dirty="0"/>
          </a:p>
        </p:txBody>
      </p:sp>
      <p:sp>
        <p:nvSpPr>
          <p:cNvPr id="3" name="card-71"/>
          <p:cNvSpPr/>
          <p:nvPr/>
        </p:nvSpPr>
        <p:spPr>
          <a:xfrm>
            <a:off x="548640" y="1280160"/>
            <a:ext cx="2240280" cy="2103120"/>
          </a:xfrm>
          <a:prstGeom prst="roundRect">
            <a:avLst>
              <a:gd name="adj" fmla="val 5217"/>
            </a:avLst>
          </a:prstGeom>
          <a:solidFill>
            <a:schemeClr val="bg2"/>
          </a:solidFill>
          <a:ln/>
        </p:spPr>
      </p:sp>
      <p:sp>
        <p:nvSpPr>
          <p:cNvPr id="4" name="Text 2"/>
          <p:cNvSpPr txBox="1"/>
          <p:nvPr/>
        </p:nvSpPr>
        <p:spPr>
          <a:xfrm>
            <a:off x="731520" y="1554480"/>
            <a:ext cx="1874520" cy="8686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39.5%</a:t>
            </a:r>
            <a:endParaRPr lang="en-US" sz="3600" dirty="0"/>
          </a:p>
        </p:txBody>
      </p:sp>
      <p:sp>
        <p:nvSpPr>
          <p:cNvPr id="5" name="Text 3"/>
          <p:cNvSpPr txBox="1"/>
          <p:nvPr/>
        </p:nvSpPr>
        <p:spPr>
          <a:xfrm>
            <a:off x="731520" y="2423160"/>
            <a:ext cx="1874520" cy="411480"/>
          </a:xfrm>
          <a:prstGeom prst="rect">
            <a:avLst/>
          </a:prstGeom>
          <a:noFill/>
          <a:ln/>
        </p:spPr>
        <p:txBody>
          <a:bodyPr wrap="square" lIns="0" tIns="0" rIns="0" bIns="0" rtlCol="0" anchor="ctr"/>
          <a:lstStyle/>
          <a:p>
            <a:pPr indent="0" marL="0">
              <a:buNone/>
            </a:pPr>
            <a:r>
              <a:rPr lang="en-US" sz="1600" b="1" dirty="0">
                <a:solidFill>
                  <a:schemeClr val="tx2"/>
                </a:solidFill>
              </a:rPr>
              <a:t>less energy</a:t>
            </a:r>
            <a:endParaRPr lang="en-US" sz="1600" dirty="0"/>
          </a:p>
        </p:txBody>
      </p:sp>
      <p:sp>
        <p:nvSpPr>
          <p:cNvPr id="6" name="Text 4"/>
          <p:cNvSpPr txBox="1"/>
          <p:nvPr/>
        </p:nvSpPr>
        <p:spPr>
          <a:xfrm>
            <a:off x="731520" y="2834640"/>
            <a:ext cx="1874520" cy="594360"/>
          </a:xfrm>
          <a:prstGeom prst="rect">
            <a:avLst/>
          </a:prstGeom>
          <a:noFill/>
          <a:ln/>
        </p:spPr>
        <p:txBody>
          <a:bodyPr wrap="square" lIns="0" tIns="0" rIns="0" bIns="0" rtlCol="0" anchor="t"/>
          <a:lstStyle/>
          <a:p>
            <a:pPr indent="0" marL="0">
              <a:buNone/>
            </a:pPr>
            <a:r>
              <a:rPr lang="en-US" sz="1400" dirty="0">
                <a:solidFill>
                  <a:schemeClr val="tx1"/>
                </a:solidFill>
              </a:rPr>
              <a:t>12,674 vs 20,955 kWh</a:t>
            </a:r>
            <a:endParaRPr lang="en-US" sz="1400" dirty="0"/>
          </a:p>
        </p:txBody>
      </p:sp>
      <p:sp>
        <p:nvSpPr>
          <p:cNvPr id="7" name="card-72"/>
          <p:cNvSpPr/>
          <p:nvPr/>
        </p:nvSpPr>
        <p:spPr>
          <a:xfrm>
            <a:off x="3063240" y="1280160"/>
            <a:ext cx="2240280" cy="2103120"/>
          </a:xfrm>
          <a:prstGeom prst="roundRect">
            <a:avLst>
              <a:gd name="adj" fmla="val 5217"/>
            </a:avLst>
          </a:prstGeom>
          <a:solidFill>
            <a:schemeClr val="bg2"/>
          </a:solidFill>
          <a:ln/>
        </p:spPr>
      </p:sp>
      <p:sp>
        <p:nvSpPr>
          <p:cNvPr id="8" name="Text 6"/>
          <p:cNvSpPr txBox="1"/>
          <p:nvPr/>
        </p:nvSpPr>
        <p:spPr>
          <a:xfrm>
            <a:off x="3246120" y="1554480"/>
            <a:ext cx="1874520" cy="86868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41.3%</a:t>
            </a:r>
            <a:endParaRPr lang="en-US" sz="3600" dirty="0"/>
          </a:p>
        </p:txBody>
      </p:sp>
      <p:sp>
        <p:nvSpPr>
          <p:cNvPr id="9" name="Text 7"/>
          <p:cNvSpPr txBox="1"/>
          <p:nvPr/>
        </p:nvSpPr>
        <p:spPr>
          <a:xfrm>
            <a:off x="3246120" y="2423160"/>
            <a:ext cx="1874520" cy="411480"/>
          </a:xfrm>
          <a:prstGeom prst="rect">
            <a:avLst/>
          </a:prstGeom>
          <a:noFill/>
          <a:ln/>
        </p:spPr>
        <p:txBody>
          <a:bodyPr wrap="square" lIns="0" tIns="0" rIns="0" bIns="0" rtlCol="0" anchor="ctr"/>
          <a:lstStyle/>
          <a:p>
            <a:pPr indent="0" marL="0">
              <a:buNone/>
            </a:pPr>
            <a:r>
              <a:rPr lang="en-US" sz="1600" b="1" dirty="0">
                <a:solidFill>
                  <a:schemeClr val="tx2"/>
                </a:solidFill>
              </a:rPr>
              <a:t>less CO2</a:t>
            </a:r>
            <a:endParaRPr lang="en-US" sz="1600" dirty="0"/>
          </a:p>
        </p:txBody>
      </p:sp>
      <p:sp>
        <p:nvSpPr>
          <p:cNvPr id="10" name="Text 8"/>
          <p:cNvSpPr txBox="1"/>
          <p:nvPr/>
        </p:nvSpPr>
        <p:spPr>
          <a:xfrm>
            <a:off x="3246120" y="2834640"/>
            <a:ext cx="1874520" cy="594360"/>
          </a:xfrm>
          <a:prstGeom prst="rect">
            <a:avLst/>
          </a:prstGeom>
          <a:noFill/>
          <a:ln/>
        </p:spPr>
        <p:txBody>
          <a:bodyPr wrap="square" lIns="0" tIns="0" rIns="0" bIns="0" rtlCol="0" anchor="t"/>
          <a:lstStyle/>
          <a:p>
            <a:pPr indent="0" marL="0">
              <a:buNone/>
            </a:pPr>
            <a:r>
              <a:rPr lang="en-US" sz="1400" dirty="0">
                <a:solidFill>
                  <a:schemeClr val="tx1"/>
                </a:solidFill>
              </a:rPr>
              <a:t>1,589 kg avoided</a:t>
            </a:r>
            <a:endParaRPr lang="en-US" sz="1400" dirty="0"/>
          </a:p>
        </p:txBody>
      </p:sp>
      <p:sp>
        <p:nvSpPr>
          <p:cNvPr id="11" name="card-73"/>
          <p:cNvSpPr/>
          <p:nvPr/>
        </p:nvSpPr>
        <p:spPr>
          <a:xfrm>
            <a:off x="548640" y="3657600"/>
            <a:ext cx="2240280" cy="2103120"/>
          </a:xfrm>
          <a:prstGeom prst="roundRect">
            <a:avLst>
              <a:gd name="adj" fmla="val 5217"/>
            </a:avLst>
          </a:prstGeom>
          <a:solidFill>
            <a:schemeClr val="bg2"/>
          </a:solidFill>
          <a:ln/>
        </p:spPr>
      </p:sp>
      <p:sp>
        <p:nvSpPr>
          <p:cNvPr id="12" name="Text 10"/>
          <p:cNvSpPr txBox="1"/>
          <p:nvPr/>
        </p:nvSpPr>
        <p:spPr>
          <a:xfrm>
            <a:off x="731520" y="3931920"/>
            <a:ext cx="1874520" cy="8686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$993.71</a:t>
            </a:r>
            <a:endParaRPr lang="en-US" sz="3600" dirty="0"/>
          </a:p>
        </p:txBody>
      </p:sp>
      <p:sp>
        <p:nvSpPr>
          <p:cNvPr id="13" name="Text 11"/>
          <p:cNvSpPr txBox="1"/>
          <p:nvPr/>
        </p:nvSpPr>
        <p:spPr>
          <a:xfrm>
            <a:off x="731520" y="4800600"/>
            <a:ext cx="1874520" cy="411480"/>
          </a:xfrm>
          <a:prstGeom prst="rect">
            <a:avLst/>
          </a:prstGeom>
          <a:noFill/>
          <a:ln/>
        </p:spPr>
        <p:txBody>
          <a:bodyPr wrap="square" lIns="0" tIns="0" rIns="0" bIns="0" rtlCol="0" anchor="ctr"/>
          <a:lstStyle/>
          <a:p>
            <a:pPr indent="0" marL="0">
              <a:buNone/>
            </a:pPr>
            <a:r>
              <a:rPr lang="en-US" sz="1600" b="1" dirty="0">
                <a:solidFill>
                  <a:schemeClr val="tx2"/>
                </a:solidFill>
              </a:rPr>
              <a:t>cost saved</a:t>
            </a:r>
            <a:endParaRPr lang="en-US" sz="1600" dirty="0"/>
          </a:p>
        </p:txBody>
      </p:sp>
      <p:sp>
        <p:nvSpPr>
          <p:cNvPr id="14" name="Text 12"/>
          <p:cNvSpPr txBox="1"/>
          <p:nvPr/>
        </p:nvSpPr>
        <p:spPr>
          <a:xfrm>
            <a:off x="731520" y="5212080"/>
            <a:ext cx="1874520" cy="594360"/>
          </a:xfrm>
          <a:prstGeom prst="rect">
            <a:avLst/>
          </a:prstGeom>
          <a:noFill/>
          <a:ln/>
        </p:spPr>
        <p:txBody>
          <a:bodyPr wrap="square" lIns="0" tIns="0" rIns="0" bIns="0" rtlCol="0" anchor="t"/>
          <a:lstStyle/>
          <a:p>
            <a:pPr indent="0" marL="0">
              <a:buNone/>
            </a:pPr>
            <a:r>
              <a:rPr lang="en-US" sz="1400" dirty="0">
                <a:solidFill>
                  <a:schemeClr val="tx1"/>
                </a:solidFill>
              </a:rPr>
              <a:t>at $0.12 per kWh</a:t>
            </a:r>
            <a:endParaRPr lang="en-US" sz="1400" dirty="0"/>
          </a:p>
        </p:txBody>
      </p:sp>
      <p:sp>
        <p:nvSpPr>
          <p:cNvPr id="15" name="card-74"/>
          <p:cNvSpPr/>
          <p:nvPr/>
        </p:nvSpPr>
        <p:spPr>
          <a:xfrm>
            <a:off x="3063240" y="3657600"/>
            <a:ext cx="2240280" cy="2103120"/>
          </a:xfrm>
          <a:prstGeom prst="roundRect">
            <a:avLst>
              <a:gd name="adj" fmla="val 5217"/>
            </a:avLst>
          </a:prstGeom>
          <a:solidFill>
            <a:schemeClr val="bg2"/>
          </a:solidFill>
          <a:ln/>
        </p:spPr>
      </p:sp>
      <p:sp>
        <p:nvSpPr>
          <p:cNvPr id="16" name="Text 14"/>
          <p:cNvSpPr txBox="1"/>
          <p:nvPr/>
        </p:nvSpPr>
        <p:spPr>
          <a:xfrm>
            <a:off x="3246120" y="3931920"/>
            <a:ext cx="1874520" cy="8686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99.53%</a:t>
            </a:r>
            <a:endParaRPr lang="en-US" sz="3600" dirty="0"/>
          </a:p>
        </p:txBody>
      </p:sp>
      <p:sp>
        <p:nvSpPr>
          <p:cNvPr id="17" name="Text 15"/>
          <p:cNvSpPr txBox="1"/>
          <p:nvPr/>
        </p:nvSpPr>
        <p:spPr>
          <a:xfrm>
            <a:off x="3246120" y="4800600"/>
            <a:ext cx="1874520" cy="411480"/>
          </a:xfrm>
          <a:prstGeom prst="rect">
            <a:avLst/>
          </a:prstGeom>
          <a:noFill/>
          <a:ln/>
        </p:spPr>
        <p:txBody>
          <a:bodyPr wrap="square" lIns="0" tIns="0" rIns="0" bIns="0" rtlCol="0" anchor="ctr"/>
          <a:lstStyle/>
          <a:p>
            <a:pPr indent="0" marL="0">
              <a:buNone/>
            </a:pPr>
            <a:r>
              <a:rPr lang="en-US" sz="1600" b="1" dirty="0">
                <a:solidFill>
                  <a:schemeClr val="tx2"/>
                </a:solidFill>
              </a:rPr>
              <a:t>SLA met</a:t>
            </a:r>
            <a:endParaRPr lang="en-US" sz="1600" dirty="0"/>
          </a:p>
        </p:txBody>
      </p:sp>
      <p:sp>
        <p:nvSpPr>
          <p:cNvPr id="18" name="Text 16"/>
          <p:cNvSpPr txBox="1"/>
          <p:nvPr/>
        </p:nvSpPr>
        <p:spPr>
          <a:xfrm>
            <a:off x="3246120" y="5212080"/>
            <a:ext cx="1874520" cy="594360"/>
          </a:xfrm>
          <a:prstGeom prst="rect">
            <a:avLst/>
          </a:prstGeom>
          <a:noFill/>
          <a:ln/>
        </p:spPr>
        <p:txBody>
          <a:bodyPr wrap="square" lIns="0" tIns="0" rIns="0" bIns="0" rtlCol="0" anchor="t"/>
          <a:lstStyle/>
          <a:p>
            <a:pPr indent="0" marL="0">
              <a:buNone/>
            </a:pPr>
            <a:r>
              <a:rPr lang="en-US" sz="1400" dirty="0">
                <a:solidFill>
                  <a:schemeClr val="tx1"/>
                </a:solidFill>
              </a:rPr>
              <a:t>hours with enough capacity</a:t>
            </a:r>
            <a:endParaRPr lang="en-US" sz="1400" dirty="0"/>
          </a:p>
        </p:txBody>
      </p:sp>
      <p:pic>
        <p:nvPicPr>
          <p:cNvPr id="19" name="image-75" descr="D:\Projects\AURA_Cloud_Project_2026\results\simulation\simulation.png">    </p:cNvPr>
          <p:cNvPicPr>
            <a:picLocks noChangeAspect="1"/>
          </p:cNvPicPr>
          <p:nvPr/>
        </p:nvPicPr>
        <p:blipFill>
          <a:blip r:embed="rId1"/>
          <a:stretch>
            <a:fillRect/>
          </a:stretch>
        </p:blipFill>
        <p:spPr>
          <a:xfrm>
            <a:off x="6072988" y="1234440"/>
            <a:ext cx="5074920" cy="5074920"/>
          </a:xfrm>
          <a:prstGeom prst="rect">
            <a:avLst/>
          </a:prstGeom>
        </p:spPr>
      </p:pic>
      <p:sp>
        <p:nvSpPr>
          <p:cNvPr id="20" name="Text 17"/>
          <p:cNvSpPr txBox="1"/>
          <p:nvPr/>
        </p:nvSpPr>
        <p:spPr>
          <a:xfrm>
            <a:off x="548640" y="5852160"/>
            <a:ext cx="4754880" cy="457200"/>
          </a:xfrm>
          <a:prstGeom prst="rect">
            <a:avLst/>
          </a:prstGeom>
          <a:noFill/>
          <a:ln/>
        </p:spPr>
        <p:txBody>
          <a:bodyPr wrap="square" lIns="0" tIns="0" rIns="0" bIns="0" rtlCol="0" anchor="ctr"/>
          <a:lstStyle/>
          <a:p>
            <a:pPr indent="0" marL="0">
              <a:buNone/>
            </a:pPr>
            <a:r>
              <a:rPr lang="en-US" sz="1100" dirty="0">
                <a:solidFill>
                  <a:schemeClr val="accent4"/>
                </a:solidFill>
              </a:rPr>
              <a:t>Test period: 1,704 hours, 12 Aug to 21 Oct 2019. Carbon-aware shifting adds 2.3 of the 41.3 points (39.0% without it).</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Assumptions, and what these numbers are not</a:t>
            </a:r>
            <a:endParaRPr lang="en-US" sz="3200" dirty="0"/>
          </a:p>
        </p:txBody>
      </p:sp>
      <p:sp>
        <p:nvSpPr>
          <p:cNvPr id="3" name="Text 1"/>
          <p:cNvSpPr txBox="1"/>
          <p:nvPr/>
        </p:nvSpPr>
        <p:spPr>
          <a:xfrm>
            <a:off x="548640" y="1280160"/>
            <a:ext cx="6309360" cy="484632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This is a simulation, not a measurement on real servers</a:t>
            </a:r>
            <a:endParaRPr lang="en-US" sz="1600" dirty="0"/>
          </a:p>
          <a:p>
            <a:pPr marL="342900" indent="-342900">
              <a:spcAft>
                <a:spcPts val="800"/>
              </a:spcAft>
              <a:buSzPct val="100000"/>
              <a:buChar char="•"/>
            </a:pPr>
            <a:r>
              <a:rPr lang="en-US" sz="1600" dirty="0">
                <a:solidFill>
                  <a:schemeClr val="tx1"/>
                </a:solidFill>
              </a:rPr>
              <a:t>Building kW stands in for server demand: the 48-server fleet is sized so the training-period peak fills it</a:t>
            </a:r>
            <a:endParaRPr lang="en-US" sz="1600" dirty="0"/>
          </a:p>
          <a:p>
            <a:pPr marL="342900" indent="-342900">
              <a:spcAft>
                <a:spcPts val="800"/>
              </a:spcAft>
              <a:buSzPct val="100000"/>
              <a:buChar char="•"/>
            </a:pPr>
            <a:r>
              <a:rPr lang="en-US" sz="1600" dirty="0">
                <a:solidFill>
                  <a:schemeClr val="tx1"/>
                </a:solidFill>
              </a:rPr>
              <a:t>Each server: 0.12 kW idle, 0.30 kW at full load (idle is 40% of peak); PUE 1.5 for cooling</a:t>
            </a:r>
            <a:endParaRPr lang="en-US" sz="1600" dirty="0"/>
          </a:p>
          <a:p>
            <a:pPr marL="342900" indent="-342900">
              <a:spcAft>
                <a:spcPts val="800"/>
              </a:spcAft>
              <a:buSzPct val="100000"/>
              <a:buChar char="•"/>
            </a:pPr>
            <a:r>
              <a:rPr lang="en-US" sz="1600" dirty="0">
                <a:solidFill>
                  <a:schemeClr val="tx1"/>
                </a:solidFill>
              </a:rPr>
              <a:t>20% of each day's work is deferrable; electricity at $0.12 per kWh</a:t>
            </a:r>
            <a:endParaRPr lang="en-US" sz="1600" dirty="0"/>
          </a:p>
          <a:p>
            <a:pPr marL="342900" indent="-342900">
              <a:spcAft>
                <a:spcPts val="800"/>
              </a:spcAft>
              <a:buSzPct val="100000"/>
              <a:buChar char="•"/>
            </a:pPr>
            <a:r>
              <a:rPr lang="en-US" sz="1600" dirty="0">
                <a:solidFill>
                  <a:schemeClr val="tx1"/>
                </a:solidFill>
              </a:rPr>
              <a:t>Carbon is real UK grid data, while the building is in Bangkok</a:t>
            </a:r>
            <a:endParaRPr lang="en-US" sz="1600" dirty="0"/>
          </a:p>
        </p:txBody>
      </p:sp>
      <p:sp>
        <p:nvSpPr>
          <p:cNvPr id="4" name="Text 2"/>
          <p:cNvSpPr txBox="1"/>
          <p:nvPr/>
        </p:nvSpPr>
        <p:spPr>
          <a:xfrm>
            <a:off x="7223760" y="1280160"/>
            <a:ext cx="4419295" cy="640080"/>
          </a:xfrm>
          <a:prstGeom prst="rect">
            <a:avLst/>
          </a:prstGeom>
          <a:noFill/>
          <a:ln/>
        </p:spPr>
        <p:txBody>
          <a:bodyPr wrap="square" lIns="0" tIns="0" rIns="0" bIns="0" rtlCol="0" anchor="t"/>
          <a:lstStyle/>
          <a:p>
            <a:pPr indent="0" marL="0">
              <a:buNone/>
            </a:pPr>
            <a:r>
              <a:rPr lang="en-US" sz="1500" b="1" dirty="0">
                <a:solidFill>
                  <a:schemeClr val="tx2"/>
                </a:solidFill>
              </a:rPr>
              <a:t>Headroom chosen on validation (Jun to Aug 2019), then frozen</a:t>
            </a:r>
            <a:endParaRPr lang="en-US" sz="1500" dirty="0"/>
          </a:p>
        </p:txBody>
      </p:sp>
      <p:graphicFrame>
        <p:nvGraphicFramePr>
          <p:cNvPr id="12" name="headroom-table"/>
          <p:cNvGraphicFramePr>
            <a:graphicFrameLocks noGrp="1"/>
          </p:cNvGraphicFramePr>
          <p:nvPr>
            <p:extLst>
              <p:ext uri="{D42A27DB-BD31-4B8C-83A1-F6EECF244321}">
                <p14:modId xmlns:p14="http://schemas.microsoft.com/office/powerpoint/2010/main" val="1579011935"/>
              </p:ext>
            </p:extLst>
          </p:nvPr>
        </p:nvGraphicFramePr>
        <p:xfrm>
          <a:off x="7223760" y="2011680"/>
          <a:ext cx="4419295" cy="914400"/>
        </p:xfrm>
        <a:graphic>
          <a:graphicData uri="http://schemas.openxmlformats.org/drawingml/2006/table">
            <a:tbl>
              <a:tblPr/>
              <a:tblGrid>
                <a:gridCol w="1783080"/>
                <a:gridCol w="1280160"/>
                <a:gridCol w="135331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Headroom + spare</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0F3B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Energy saved</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0F3B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SLA</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0F3B33"/>
                    </a:solidFill>
                  </a:tcPr>
                </a:tc>
              </a:tr>
              <a:tr h="411480">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15% + 2</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42.5%</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97.24%</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15% + 4</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39.7%</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99.46%</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r>
              <a:tr h="411480">
                <a:tc>
                  <a:txBody>
                    <a:bodyPr/>
                    <a:lstStyle/>
                    <a:p>
                      <a:pPr indent="0" marL="0">
                        <a:buNone/>
                      </a:pPr>
                      <a:r>
                        <a:rPr lang="en-US" sz="1300" b="1" dirty="0">
                          <a:solidFill>
                            <a:srgbClr val="1B2A26"/>
                          </a:solidFill>
                          <a:latin typeface="Calibri" pitchFamily="34" charset="0"/>
                          <a:ea typeface="Calibri" pitchFamily="34" charset="-122"/>
                          <a:cs typeface="Calibri" pitchFamily="34" charset="-120"/>
                        </a:rPr>
                        <a:t>25% + 4 (chosen)</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D8EDE5"/>
                    </a:solidFill>
                  </a:tcPr>
                </a:tc>
                <a:tc>
                  <a:txBody>
                    <a:bodyPr/>
                    <a:lstStyle/>
                    <a:p>
                      <a:pPr indent="0" marL="0">
                        <a:buNone/>
                      </a:pPr>
                      <a:r>
                        <a:rPr lang="en-US" sz="1300" b="1" dirty="0">
                          <a:solidFill>
                            <a:srgbClr val="1B2A26"/>
                          </a:solidFill>
                          <a:latin typeface="Calibri" pitchFamily="34" charset="0"/>
                          <a:ea typeface="Calibri" pitchFamily="34" charset="-122"/>
                          <a:cs typeface="Calibri" pitchFamily="34" charset="-120"/>
                        </a:rPr>
                        <a:t>38.0%</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D8EDE5"/>
                    </a:solidFill>
                  </a:tcPr>
                </a:tc>
                <a:tc>
                  <a:txBody>
                    <a:bodyPr/>
                    <a:lstStyle/>
                    <a:p>
                      <a:pPr indent="0" marL="0">
                        <a:buNone/>
                      </a:pPr>
                      <a:r>
                        <a:rPr lang="en-US" sz="1300" b="1" dirty="0">
                          <a:solidFill>
                            <a:srgbClr val="1B2A26"/>
                          </a:solidFill>
                          <a:latin typeface="Calibri" pitchFamily="34" charset="0"/>
                          <a:ea typeface="Calibri" pitchFamily="34" charset="-122"/>
                          <a:cs typeface="Calibri" pitchFamily="34" charset="-120"/>
                        </a:rPr>
                        <a:t>99.87%</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D8EDE5"/>
                    </a:solidFill>
                  </a:tcPr>
                </a:tc>
              </a:tr>
              <a:tr h="411480">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25% + 6</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35.2%</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99.93%</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50% + 8</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28.4%</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c>
                  <a:txBody>
                    <a:bodyPr/>
                    <a:lstStyle/>
                    <a:p>
                      <a:pPr indent="0" marL="0">
                        <a:buNone/>
                      </a:pPr>
                      <a:r>
                        <a:rPr lang="en-US" sz="1300" dirty="0">
                          <a:solidFill>
                            <a:srgbClr val="1B2A26"/>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lnL w="6350" cap="flat" cmpd="sng" algn="ctr">
                      <a:solidFill>
                        <a:srgbClr val="C9D6D1"/>
                      </a:solidFill>
                      <a:prstDash val="solid"/>
                      <a:round/>
                      <a:headEnd type="none" w="med" len="med"/>
                      <a:tailEnd type="none" w="med" len="med"/>
                    </a:lnL>
                    <a:lnR w="6350" cap="flat" cmpd="sng" algn="ctr">
                      <a:solidFill>
                        <a:srgbClr val="C9D6D1"/>
                      </a:solidFill>
                      <a:prstDash val="solid"/>
                      <a:round/>
                      <a:headEnd type="none" w="med" len="med"/>
                      <a:tailEnd type="none" w="med" len="med"/>
                    </a:lnR>
                    <a:lnT w="6350" cap="flat" cmpd="sng" algn="ctr">
                      <a:solidFill>
                        <a:srgbClr val="C9D6D1"/>
                      </a:solidFill>
                      <a:prstDash val="solid"/>
                      <a:round/>
                      <a:headEnd type="none" w="med" len="med"/>
                      <a:tailEnd type="none" w="med" len="med"/>
                    </a:lnT>
                    <a:lnB w="6350" cap="flat" cmpd="sng" algn="ctr">
                      <a:solidFill>
                        <a:srgbClr val="C9D6D1"/>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7223760" y="4663440"/>
            <a:ext cx="4419295" cy="731520"/>
          </a:xfrm>
          <a:prstGeom prst="rect">
            <a:avLst/>
          </a:prstGeom>
          <a:noFill/>
          <a:ln/>
        </p:spPr>
        <p:txBody>
          <a:bodyPr wrap="square" lIns="0" tIns="0" rIns="0" bIns="0" rtlCol="0" anchor="t"/>
          <a:lstStyle/>
          <a:p>
            <a:pPr indent="0" marL="0">
              <a:buNone/>
            </a:pPr>
            <a:r>
              <a:rPr lang="en-US" sz="1400" i="1" dirty="0">
                <a:solidFill>
                  <a:schemeClr val="accent1"/>
                </a:solidFill>
              </a:rPr>
              <a:t>Rule: highest saving with SLA of at least 99.5%. The test period was then run once.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Backend API and live dashboard</a:t>
            </a:r>
            <a:endParaRPr lang="en-US" sz="3200" dirty="0"/>
          </a:p>
        </p:txBody>
      </p:sp>
      <p:sp>
        <p:nvSpPr>
          <p:cNvPr id="3" name="Text 1"/>
          <p:cNvSpPr txBox="1"/>
          <p:nvPr/>
        </p:nvSpPr>
        <p:spPr>
          <a:xfrm>
            <a:off x="548640" y="1280160"/>
            <a:ext cx="4206240" cy="3383280"/>
          </a:xfrm>
          <a:prstGeom prst="rect">
            <a:avLst/>
          </a:prstGeom>
          <a:noFill/>
          <a:ln/>
        </p:spPr>
        <p:txBody>
          <a:bodyPr wrap="square" rtlCol="0" anchor="t"/>
          <a:lstStyle/>
          <a:p>
            <a:pPr indent="0" marL="0">
              <a:buNone/>
            </a:pPr>
            <a:r>
              <a:rPr lang="en-US" sz="1800" b="1" dirty="0">
                <a:solidFill>
                  <a:schemeClr val="tx2"/>
                </a:solidFill>
              </a:rPr>
              <a:t>Express REST API</a:t>
            </a:r>
            <a:endParaRPr lang="en-US" sz="1800" dirty="0"/>
          </a:p>
          <a:p>
            <a:pPr marL="342900" indent="-342900">
              <a:spcAft>
                <a:spcPts val="800"/>
              </a:spcAft>
              <a:buSzPct val="100000"/>
              <a:buChar char="•"/>
            </a:pPr>
            <a:r>
              <a:rPr lang="en-US" sz="1500" dirty="0">
                <a:solidFill>
                  <a:schemeClr val="tx1"/>
                </a:solidFill>
              </a:rPr>
              <a:t>GET /api/metrics/energy, /metrics/savings, /allocations, /alerts, /forecast</a:t>
            </a:r>
            <a:endParaRPr lang="en-US" sz="1800" dirty="0"/>
          </a:p>
          <a:p>
            <a:pPr marL="342900" indent="-342900">
              <a:spcAft>
                <a:spcPts val="800"/>
              </a:spcAft>
              <a:buSzPct val="100000"/>
              <a:buChar char="•"/>
            </a:pPr>
            <a:r>
              <a:rPr lang="en-US" sz="1500" dirty="0">
                <a:solidFill>
                  <a:schemeClr val="tx1"/>
                </a:solidFill>
              </a:rPr>
              <a:t>Cognito ID tokens verified on every /api call</a:t>
            </a:r>
            <a:endParaRPr lang="en-US" sz="1800" dirty="0"/>
          </a:p>
          <a:p>
            <a:pPr marL="342900" indent="-342900">
              <a:spcAft>
                <a:spcPts val="800"/>
              </a:spcAft>
              <a:buSzPct val="100000"/>
              <a:buChar char="•"/>
            </a:pPr>
            <a:r>
              <a:rPr lang="en-US" sz="1500" dirty="0">
                <a:solidFill>
                  <a:schemeClr val="tx1"/>
                </a:solidFill>
              </a:rPr>
              <a:t>DynamoDB table AURA: partition key type, sort key id</a:t>
            </a:r>
            <a:endParaRPr lang="en-US" sz="1800" dirty="0"/>
          </a:p>
          <a:p>
            <a:pPr marL="342900" indent="-342900">
              <a:spcAft>
                <a:spcPts val="800"/>
              </a:spcAft>
              <a:buSzPct val="100000"/>
              <a:buChar char="•"/>
            </a:pPr>
            <a:r>
              <a:rPr lang="en-US" sz="1500" dirty="0">
                <a:solidFill>
                  <a:schemeClr val="tx1"/>
                </a:solidFill>
              </a:rPr>
              <a:t>Seed script loads simulation results; 7 automated tests</a:t>
            </a:r>
            <a:endParaRPr lang="en-US" sz="1800" dirty="0"/>
          </a:p>
        </p:txBody>
      </p:sp>
      <p:sp>
        <p:nvSpPr>
          <p:cNvPr id="4" name="Text 2"/>
          <p:cNvSpPr txBox="1"/>
          <p:nvPr/>
        </p:nvSpPr>
        <p:spPr>
          <a:xfrm>
            <a:off x="548640" y="4663440"/>
            <a:ext cx="4206240" cy="1554480"/>
          </a:xfrm>
          <a:prstGeom prst="rect">
            <a:avLst/>
          </a:prstGeom>
          <a:noFill/>
          <a:ln/>
        </p:spPr>
        <p:txBody>
          <a:bodyPr wrap="square" rtlCol="0" anchor="t"/>
          <a:lstStyle/>
          <a:p>
            <a:pPr indent="0" marL="0">
              <a:buNone/>
            </a:pPr>
            <a:r>
              <a:rPr lang="en-US" sz="1800" b="1" dirty="0">
                <a:solidFill>
                  <a:schemeClr val="tx2"/>
                </a:solidFill>
              </a:rPr>
              <a:t>React dashboard</a:t>
            </a:r>
            <a:endParaRPr lang="en-US" sz="1800" dirty="0"/>
          </a:p>
          <a:p>
            <a:pPr marL="342900" indent="-342900">
              <a:spcAft>
                <a:spcPts val="800"/>
              </a:spcAft>
              <a:buSzPct val="100000"/>
              <a:buChar char="•"/>
            </a:pPr>
            <a:r>
              <a:rPr lang="en-US" sz="1500" dirty="0">
                <a:solidFill>
                  <a:schemeClr val="tx1"/>
                </a:solidFill>
              </a:rPr>
              <a:t>Savings KPIs, AURA vs baseline, 24-hour forecast, alerts and server table, all from the API</a:t>
            </a:r>
            <a:endParaRPr lang="en-US" sz="1800" dirty="0"/>
          </a:p>
        </p:txBody>
      </p:sp>
      <p:pic>
        <p:nvPicPr>
          <p:cNvPr id="5" name="image-76" descr="D:\Projects\AURA_Cloud_Project_2026\results\dashboard.png">    </p:cNvPr>
          <p:cNvPicPr>
            <a:picLocks noChangeAspect="1"/>
          </p:cNvPicPr>
          <p:nvPr/>
        </p:nvPicPr>
        <p:blipFill>
          <a:blip r:embed="rId1"/>
          <a:stretch>
            <a:fillRect/>
          </a:stretch>
        </p:blipFill>
        <p:spPr>
          <a:xfrm>
            <a:off x="5044288" y="1234440"/>
            <a:ext cx="6583680" cy="5029200"/>
          </a:xfrm>
          <a:prstGeom prst="rect">
            <a:avLst/>
          </a:prstGeom>
          <a:effectLst>
            <a:outerShdw sx="100000" sy="100000" kx="0" ky="0" algn="bl" rotWithShape="0" blurRad="76200" dist="25400" dir="5400000">
              <a:srgbClr val="000000">
                <a:alpha val="25000"/>
              </a:srgbClr>
            </a:outerShdw>
          </a:effectLst>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AWS services: one CloudFormation stack</a:t>
            </a:r>
            <a:endParaRPr lang="en-US" sz="3200" dirty="0"/>
          </a:p>
        </p:txBody>
      </p:sp>
      <p:pic>
        <p:nvPicPr>
          <p:cNvPr id="3" name="image-77" descr="D:\Projects\AURA_Cloud_Project_2026\architecture\AWS_Architecture.png">    </p:cNvPr>
          <p:cNvPicPr>
            <a:picLocks noChangeAspect="1"/>
          </p:cNvPicPr>
          <p:nvPr/>
        </p:nvPicPr>
        <p:blipFill>
          <a:blip r:embed="rId1"/>
          <a:stretch>
            <a:fillRect/>
          </a:stretch>
        </p:blipFill>
        <p:spPr>
          <a:xfrm>
            <a:off x="548640" y="1189480"/>
            <a:ext cx="11094415" cy="2924561"/>
          </a:xfrm>
          <a:prstGeom prst="rect">
            <a:avLst/>
          </a:prstGeom>
        </p:spPr>
      </p:pic>
      <p:sp>
        <p:nvSpPr>
          <p:cNvPr id="4" name="card-78"/>
          <p:cNvSpPr/>
          <p:nvPr/>
        </p:nvSpPr>
        <p:spPr>
          <a:xfrm>
            <a:off x="548640" y="4297680"/>
            <a:ext cx="1696669" cy="1417320"/>
          </a:xfrm>
          <a:prstGeom prst="roundRect">
            <a:avLst>
              <a:gd name="adj" fmla="val 7742"/>
            </a:avLst>
          </a:prstGeom>
          <a:solidFill>
            <a:schemeClr val="bg2"/>
          </a:solidFill>
          <a:ln/>
        </p:spPr>
      </p:sp>
      <p:sp>
        <p:nvSpPr>
          <p:cNvPr id="5" name="icon-circle-79"/>
          <p:cNvSpPr/>
          <p:nvPr/>
        </p:nvSpPr>
        <p:spPr>
          <a:xfrm>
            <a:off x="685800" y="4434840"/>
            <a:ext cx="457200" cy="457200"/>
          </a:xfrm>
          <a:prstGeom prst="ellipse">
            <a:avLst/>
          </a:prstGeom>
          <a:solidFill>
            <a:schemeClr val="accent1"/>
          </a:solidFill>
          <a:ln/>
        </p:spPr>
      </p:sp>
      <p:pic>
        <p:nvPicPr>
          <p:cNvPr id="6" name="icon-80" descr="preencoded.png">    </p:cNvPr>
          <p:cNvPicPr>
            <a:picLocks noChangeAspect="1"/>
          </p:cNvPicPr>
          <p:nvPr/>
        </p:nvPicPr>
        <p:blipFill>
          <a:blip r:embed="rId2"/>
          <a:stretch>
            <a:fillRect/>
          </a:stretch>
        </p:blipFill>
        <p:spPr>
          <a:xfrm>
            <a:off x="800100" y="4549140"/>
            <a:ext cx="228600" cy="228600"/>
          </a:xfrm>
          <a:prstGeom prst="rect">
            <a:avLst/>
          </a:prstGeom>
        </p:spPr>
      </p:pic>
      <p:sp>
        <p:nvSpPr>
          <p:cNvPr id="7" name="Text 3"/>
          <p:cNvSpPr txBox="1"/>
          <p:nvPr/>
        </p:nvSpPr>
        <p:spPr>
          <a:xfrm>
            <a:off x="1207008" y="4434840"/>
            <a:ext cx="946861" cy="457200"/>
          </a:xfrm>
          <a:prstGeom prst="rect">
            <a:avLst/>
          </a:prstGeom>
          <a:noFill/>
          <a:ln/>
        </p:spPr>
        <p:txBody>
          <a:bodyPr wrap="square" lIns="0" tIns="0" rIns="0" bIns="0" rtlCol="0" anchor="ctr"/>
          <a:lstStyle/>
          <a:p>
            <a:pPr indent="0" marL="0">
              <a:buNone/>
            </a:pPr>
            <a:r>
              <a:rPr lang="en-US" sz="1400" b="1" dirty="0">
                <a:solidFill>
                  <a:schemeClr val="tx2"/>
                </a:solidFill>
              </a:rPr>
              <a:t>DynamoDB</a:t>
            </a:r>
            <a:endParaRPr lang="en-US" sz="1400" dirty="0"/>
          </a:p>
        </p:txBody>
      </p:sp>
      <p:sp>
        <p:nvSpPr>
          <p:cNvPr id="8" name="Text 4"/>
          <p:cNvSpPr txBox="1"/>
          <p:nvPr/>
        </p:nvSpPr>
        <p:spPr>
          <a:xfrm>
            <a:off x="685800" y="4983480"/>
            <a:ext cx="1422349" cy="685800"/>
          </a:xfrm>
          <a:prstGeom prst="rect">
            <a:avLst/>
          </a:prstGeom>
          <a:noFill/>
          <a:ln/>
        </p:spPr>
        <p:txBody>
          <a:bodyPr wrap="square" lIns="0" tIns="0" rIns="0" bIns="0" rtlCol="0" anchor="t"/>
          <a:lstStyle/>
          <a:p>
            <a:pPr indent="0" marL="0">
              <a:buNone/>
            </a:pPr>
            <a:r>
              <a:rPr lang="en-US" sz="1200" dirty="0">
                <a:solidFill>
                  <a:schemeClr val="tx1"/>
                </a:solidFill>
              </a:rPr>
              <a:t>AURA table with a stream</a:t>
            </a:r>
            <a:endParaRPr lang="en-US" sz="1200" dirty="0"/>
          </a:p>
        </p:txBody>
      </p:sp>
      <p:sp>
        <p:nvSpPr>
          <p:cNvPr id="9" name="card-81"/>
          <p:cNvSpPr/>
          <p:nvPr/>
        </p:nvSpPr>
        <p:spPr>
          <a:xfrm>
            <a:off x="2428189" y="4297680"/>
            <a:ext cx="1696669" cy="1417320"/>
          </a:xfrm>
          <a:prstGeom prst="roundRect">
            <a:avLst>
              <a:gd name="adj" fmla="val 7742"/>
            </a:avLst>
          </a:prstGeom>
          <a:solidFill>
            <a:schemeClr val="bg2"/>
          </a:solidFill>
          <a:ln/>
        </p:spPr>
      </p:sp>
      <p:sp>
        <p:nvSpPr>
          <p:cNvPr id="10" name="icon-circle-82"/>
          <p:cNvSpPr/>
          <p:nvPr/>
        </p:nvSpPr>
        <p:spPr>
          <a:xfrm>
            <a:off x="2565349" y="4434840"/>
            <a:ext cx="457200" cy="457200"/>
          </a:xfrm>
          <a:prstGeom prst="ellipse">
            <a:avLst/>
          </a:prstGeom>
          <a:solidFill>
            <a:schemeClr val="accent1"/>
          </a:solidFill>
          <a:ln/>
        </p:spPr>
      </p:sp>
      <p:pic>
        <p:nvPicPr>
          <p:cNvPr id="11" name="icon-83" descr="preencoded.png">    </p:cNvPr>
          <p:cNvPicPr>
            <a:picLocks noChangeAspect="1"/>
          </p:cNvPicPr>
          <p:nvPr/>
        </p:nvPicPr>
        <p:blipFill>
          <a:blip r:embed="rId3"/>
          <a:stretch>
            <a:fillRect/>
          </a:stretch>
        </p:blipFill>
        <p:spPr>
          <a:xfrm>
            <a:off x="2679649" y="4549140"/>
            <a:ext cx="228600" cy="228600"/>
          </a:xfrm>
          <a:prstGeom prst="rect">
            <a:avLst/>
          </a:prstGeom>
        </p:spPr>
      </p:pic>
      <p:sp>
        <p:nvSpPr>
          <p:cNvPr id="12" name="Text 7"/>
          <p:cNvSpPr txBox="1"/>
          <p:nvPr/>
        </p:nvSpPr>
        <p:spPr>
          <a:xfrm>
            <a:off x="3086557" y="4434840"/>
            <a:ext cx="946861" cy="457200"/>
          </a:xfrm>
          <a:prstGeom prst="rect">
            <a:avLst/>
          </a:prstGeom>
          <a:noFill/>
          <a:ln/>
        </p:spPr>
        <p:txBody>
          <a:bodyPr wrap="square" lIns="0" tIns="0" rIns="0" bIns="0" rtlCol="0" anchor="ctr"/>
          <a:lstStyle/>
          <a:p>
            <a:pPr indent="0" marL="0">
              <a:buNone/>
            </a:pPr>
            <a:r>
              <a:rPr lang="en-US" sz="1400" b="1" dirty="0">
                <a:solidFill>
                  <a:schemeClr val="tx2"/>
                </a:solidFill>
              </a:rPr>
              <a:t>Cognito</a:t>
            </a:r>
            <a:endParaRPr lang="en-US" sz="1400" dirty="0"/>
          </a:p>
        </p:txBody>
      </p:sp>
      <p:sp>
        <p:nvSpPr>
          <p:cNvPr id="13" name="Text 8"/>
          <p:cNvSpPr txBox="1"/>
          <p:nvPr/>
        </p:nvSpPr>
        <p:spPr>
          <a:xfrm>
            <a:off x="2565349" y="4983480"/>
            <a:ext cx="1422349" cy="685800"/>
          </a:xfrm>
          <a:prstGeom prst="rect">
            <a:avLst/>
          </a:prstGeom>
          <a:noFill/>
          <a:ln/>
        </p:spPr>
        <p:txBody>
          <a:bodyPr wrap="square" lIns="0" tIns="0" rIns="0" bIns="0" rtlCol="0" anchor="t"/>
          <a:lstStyle/>
          <a:p>
            <a:pPr indent="0" marL="0">
              <a:buNone/>
            </a:pPr>
            <a:r>
              <a:rPr lang="en-US" sz="1200" dirty="0">
                <a:solidFill>
                  <a:schemeClr val="tx1"/>
                </a:solidFill>
              </a:rPr>
              <a:t>User pool and dashboard client</a:t>
            </a:r>
            <a:endParaRPr lang="en-US" sz="1200" dirty="0"/>
          </a:p>
        </p:txBody>
      </p:sp>
      <p:sp>
        <p:nvSpPr>
          <p:cNvPr id="14" name="card-84"/>
          <p:cNvSpPr/>
          <p:nvPr/>
        </p:nvSpPr>
        <p:spPr>
          <a:xfrm>
            <a:off x="4307738" y="4297680"/>
            <a:ext cx="1696669" cy="1417320"/>
          </a:xfrm>
          <a:prstGeom prst="roundRect">
            <a:avLst>
              <a:gd name="adj" fmla="val 7742"/>
            </a:avLst>
          </a:prstGeom>
          <a:solidFill>
            <a:schemeClr val="bg2"/>
          </a:solidFill>
          <a:ln/>
        </p:spPr>
      </p:sp>
      <p:sp>
        <p:nvSpPr>
          <p:cNvPr id="15" name="icon-circle-85"/>
          <p:cNvSpPr/>
          <p:nvPr/>
        </p:nvSpPr>
        <p:spPr>
          <a:xfrm>
            <a:off x="4444898" y="4434840"/>
            <a:ext cx="457200" cy="457200"/>
          </a:xfrm>
          <a:prstGeom prst="ellipse">
            <a:avLst/>
          </a:prstGeom>
          <a:solidFill>
            <a:schemeClr val="accent1"/>
          </a:solidFill>
          <a:ln/>
        </p:spPr>
      </p:sp>
      <p:pic>
        <p:nvPicPr>
          <p:cNvPr id="16" name="icon-86" descr="preencoded.png">    </p:cNvPr>
          <p:cNvPicPr>
            <a:picLocks noChangeAspect="1"/>
          </p:cNvPicPr>
          <p:nvPr/>
        </p:nvPicPr>
        <p:blipFill>
          <a:blip r:embed="rId4"/>
          <a:stretch>
            <a:fillRect/>
          </a:stretch>
        </p:blipFill>
        <p:spPr>
          <a:xfrm>
            <a:off x="4559198" y="4549140"/>
            <a:ext cx="228600" cy="228600"/>
          </a:xfrm>
          <a:prstGeom prst="rect">
            <a:avLst/>
          </a:prstGeom>
        </p:spPr>
      </p:pic>
      <p:sp>
        <p:nvSpPr>
          <p:cNvPr id="17" name="Text 11"/>
          <p:cNvSpPr txBox="1"/>
          <p:nvPr/>
        </p:nvSpPr>
        <p:spPr>
          <a:xfrm>
            <a:off x="4966106" y="4434840"/>
            <a:ext cx="946861" cy="457200"/>
          </a:xfrm>
          <a:prstGeom prst="rect">
            <a:avLst/>
          </a:prstGeom>
          <a:noFill/>
          <a:ln/>
        </p:spPr>
        <p:txBody>
          <a:bodyPr wrap="square" lIns="0" tIns="0" rIns="0" bIns="0" rtlCol="0" anchor="ctr"/>
          <a:lstStyle/>
          <a:p>
            <a:pPr indent="0" marL="0">
              <a:buNone/>
            </a:pPr>
            <a:r>
              <a:rPr lang="en-US" sz="1400" b="1" dirty="0">
                <a:solidFill>
                  <a:schemeClr val="tx2"/>
                </a:solidFill>
              </a:rPr>
              <a:t>SNS + Lambda</a:t>
            </a:r>
            <a:endParaRPr lang="en-US" sz="1400" dirty="0"/>
          </a:p>
        </p:txBody>
      </p:sp>
      <p:sp>
        <p:nvSpPr>
          <p:cNvPr id="18" name="Text 12"/>
          <p:cNvSpPr txBox="1"/>
          <p:nvPr/>
        </p:nvSpPr>
        <p:spPr>
          <a:xfrm>
            <a:off x="4444898" y="4983480"/>
            <a:ext cx="1422349" cy="685800"/>
          </a:xfrm>
          <a:prstGeom prst="rect">
            <a:avLst/>
          </a:prstGeom>
          <a:noFill/>
          <a:ln/>
        </p:spPr>
        <p:txBody>
          <a:bodyPr wrap="square" lIns="0" tIns="0" rIns="0" bIns="0" rtlCol="0" anchor="t"/>
          <a:lstStyle/>
          <a:p>
            <a:pPr indent="0" marL="0">
              <a:buNone/>
            </a:pPr>
            <a:r>
              <a:rPr lang="en-US" sz="1200" dirty="0">
                <a:solidFill>
                  <a:schemeClr val="tx1"/>
                </a:solidFill>
              </a:rPr>
              <a:t>Emails warning and critical alerts</a:t>
            </a:r>
            <a:endParaRPr lang="en-US" sz="1200" dirty="0"/>
          </a:p>
        </p:txBody>
      </p:sp>
      <p:sp>
        <p:nvSpPr>
          <p:cNvPr id="19" name="card-87"/>
          <p:cNvSpPr/>
          <p:nvPr/>
        </p:nvSpPr>
        <p:spPr>
          <a:xfrm>
            <a:off x="6187288" y="4297680"/>
            <a:ext cx="1696669" cy="1417320"/>
          </a:xfrm>
          <a:prstGeom prst="roundRect">
            <a:avLst>
              <a:gd name="adj" fmla="val 7742"/>
            </a:avLst>
          </a:prstGeom>
          <a:solidFill>
            <a:schemeClr val="bg2"/>
          </a:solidFill>
          <a:ln/>
        </p:spPr>
      </p:sp>
      <p:sp>
        <p:nvSpPr>
          <p:cNvPr id="20" name="icon-circle-88"/>
          <p:cNvSpPr/>
          <p:nvPr/>
        </p:nvSpPr>
        <p:spPr>
          <a:xfrm>
            <a:off x="6324448" y="4434840"/>
            <a:ext cx="457200" cy="457200"/>
          </a:xfrm>
          <a:prstGeom prst="ellipse">
            <a:avLst/>
          </a:prstGeom>
          <a:solidFill>
            <a:schemeClr val="accent1"/>
          </a:solidFill>
          <a:ln/>
        </p:spPr>
      </p:sp>
      <p:pic>
        <p:nvPicPr>
          <p:cNvPr id="21" name="icon-89" descr="preencoded.png">    </p:cNvPr>
          <p:cNvPicPr>
            <a:picLocks noChangeAspect="1"/>
          </p:cNvPicPr>
          <p:nvPr/>
        </p:nvPicPr>
        <p:blipFill>
          <a:blip r:embed="rId5"/>
          <a:stretch>
            <a:fillRect/>
          </a:stretch>
        </p:blipFill>
        <p:spPr>
          <a:xfrm>
            <a:off x="6438748" y="4549140"/>
            <a:ext cx="228600" cy="228600"/>
          </a:xfrm>
          <a:prstGeom prst="rect">
            <a:avLst/>
          </a:prstGeom>
        </p:spPr>
      </p:pic>
      <p:sp>
        <p:nvSpPr>
          <p:cNvPr id="22" name="Text 15"/>
          <p:cNvSpPr txBox="1"/>
          <p:nvPr/>
        </p:nvSpPr>
        <p:spPr>
          <a:xfrm>
            <a:off x="6845656" y="4434840"/>
            <a:ext cx="946861" cy="457200"/>
          </a:xfrm>
          <a:prstGeom prst="rect">
            <a:avLst/>
          </a:prstGeom>
          <a:noFill/>
          <a:ln/>
        </p:spPr>
        <p:txBody>
          <a:bodyPr wrap="square" lIns="0" tIns="0" rIns="0" bIns="0" rtlCol="0" anchor="ctr"/>
          <a:lstStyle/>
          <a:p>
            <a:pPr indent="0" marL="0">
              <a:buNone/>
            </a:pPr>
            <a:r>
              <a:rPr lang="en-US" sz="1400" b="1" dirty="0">
                <a:solidFill>
                  <a:schemeClr val="tx2"/>
                </a:solidFill>
              </a:rPr>
              <a:t>CloudWatch</a:t>
            </a:r>
            <a:endParaRPr lang="en-US" sz="1400" dirty="0"/>
          </a:p>
        </p:txBody>
      </p:sp>
      <p:sp>
        <p:nvSpPr>
          <p:cNvPr id="23" name="Text 16"/>
          <p:cNvSpPr txBox="1"/>
          <p:nvPr/>
        </p:nvSpPr>
        <p:spPr>
          <a:xfrm>
            <a:off x="6324448" y="4983480"/>
            <a:ext cx="1422349" cy="685800"/>
          </a:xfrm>
          <a:prstGeom prst="rect">
            <a:avLst/>
          </a:prstGeom>
          <a:noFill/>
          <a:ln/>
        </p:spPr>
        <p:txBody>
          <a:bodyPr wrap="square" lIns="0" tIns="0" rIns="0" bIns="0" rtlCol="0" anchor="t"/>
          <a:lstStyle/>
          <a:p>
            <a:pPr indent="0" marL="0">
              <a:buNone/>
            </a:pPr>
            <a:r>
              <a:rPr lang="en-US" sz="1200" dirty="0">
                <a:solidFill>
                  <a:schemeClr val="tx1"/>
                </a:solidFill>
              </a:rPr>
              <a:t>Alarm on alert Lambda errors</a:t>
            </a:r>
            <a:endParaRPr lang="en-US" sz="1200" dirty="0"/>
          </a:p>
        </p:txBody>
      </p:sp>
      <p:sp>
        <p:nvSpPr>
          <p:cNvPr id="24" name="card-90"/>
          <p:cNvSpPr/>
          <p:nvPr/>
        </p:nvSpPr>
        <p:spPr>
          <a:xfrm>
            <a:off x="8066837" y="4297680"/>
            <a:ext cx="1696669" cy="1417320"/>
          </a:xfrm>
          <a:prstGeom prst="roundRect">
            <a:avLst>
              <a:gd name="adj" fmla="val 7742"/>
            </a:avLst>
          </a:prstGeom>
          <a:solidFill>
            <a:schemeClr val="bg2"/>
          </a:solidFill>
          <a:ln/>
        </p:spPr>
      </p:sp>
      <p:sp>
        <p:nvSpPr>
          <p:cNvPr id="25" name="icon-circle-91"/>
          <p:cNvSpPr/>
          <p:nvPr/>
        </p:nvSpPr>
        <p:spPr>
          <a:xfrm>
            <a:off x="8203997" y="4434840"/>
            <a:ext cx="457200" cy="457200"/>
          </a:xfrm>
          <a:prstGeom prst="ellipse">
            <a:avLst/>
          </a:prstGeom>
          <a:solidFill>
            <a:schemeClr val="accent1"/>
          </a:solidFill>
          <a:ln/>
        </p:spPr>
      </p:sp>
      <p:pic>
        <p:nvPicPr>
          <p:cNvPr id="26" name="icon-92" descr="preencoded.png">    </p:cNvPr>
          <p:cNvPicPr>
            <a:picLocks noChangeAspect="1"/>
          </p:cNvPicPr>
          <p:nvPr/>
        </p:nvPicPr>
        <p:blipFill>
          <a:blip r:embed="rId6"/>
          <a:stretch>
            <a:fillRect/>
          </a:stretch>
        </p:blipFill>
        <p:spPr>
          <a:xfrm>
            <a:off x="8318297" y="4549140"/>
            <a:ext cx="228600" cy="228600"/>
          </a:xfrm>
          <a:prstGeom prst="rect">
            <a:avLst/>
          </a:prstGeom>
        </p:spPr>
      </p:pic>
      <p:sp>
        <p:nvSpPr>
          <p:cNvPr id="27" name="Text 19"/>
          <p:cNvSpPr txBox="1"/>
          <p:nvPr/>
        </p:nvSpPr>
        <p:spPr>
          <a:xfrm>
            <a:off x="8725205" y="4434840"/>
            <a:ext cx="946861" cy="457200"/>
          </a:xfrm>
          <a:prstGeom prst="rect">
            <a:avLst/>
          </a:prstGeom>
          <a:noFill/>
          <a:ln/>
        </p:spPr>
        <p:txBody>
          <a:bodyPr wrap="square" lIns="0" tIns="0" rIns="0" bIns="0" rtlCol="0" anchor="ctr"/>
          <a:lstStyle/>
          <a:p>
            <a:pPr indent="0" marL="0">
              <a:buNone/>
            </a:pPr>
            <a:r>
              <a:rPr lang="en-US" sz="1400" b="1" dirty="0">
                <a:solidFill>
                  <a:schemeClr val="tx2"/>
                </a:solidFill>
              </a:rPr>
              <a:t>S3</a:t>
            </a:r>
            <a:endParaRPr lang="en-US" sz="1400" dirty="0"/>
          </a:p>
        </p:txBody>
      </p:sp>
      <p:sp>
        <p:nvSpPr>
          <p:cNvPr id="28" name="Text 20"/>
          <p:cNvSpPr txBox="1"/>
          <p:nvPr/>
        </p:nvSpPr>
        <p:spPr>
          <a:xfrm>
            <a:off x="8203997" y="4983480"/>
            <a:ext cx="1422349" cy="685800"/>
          </a:xfrm>
          <a:prstGeom prst="rect">
            <a:avLst/>
          </a:prstGeom>
          <a:noFill/>
          <a:ln/>
        </p:spPr>
        <p:txBody>
          <a:bodyPr wrap="square" lIns="0" tIns="0" rIns="0" bIns="0" rtlCol="0" anchor="t"/>
          <a:lstStyle/>
          <a:p>
            <a:pPr indent="0" marL="0">
              <a:buNone/>
            </a:pPr>
            <a:r>
              <a:rPr lang="en-US" sz="1200" dirty="0">
                <a:solidFill>
                  <a:schemeClr val="tx1"/>
                </a:solidFill>
              </a:rPr>
              <a:t>Hosts the dashboard website</a:t>
            </a:r>
            <a:endParaRPr lang="en-US" sz="1200" dirty="0"/>
          </a:p>
        </p:txBody>
      </p:sp>
      <p:sp>
        <p:nvSpPr>
          <p:cNvPr id="29" name="card-93"/>
          <p:cNvSpPr/>
          <p:nvPr/>
        </p:nvSpPr>
        <p:spPr>
          <a:xfrm>
            <a:off x="9946386" y="4297680"/>
            <a:ext cx="1696669" cy="1417320"/>
          </a:xfrm>
          <a:prstGeom prst="roundRect">
            <a:avLst>
              <a:gd name="adj" fmla="val 7742"/>
            </a:avLst>
          </a:prstGeom>
          <a:solidFill>
            <a:schemeClr val="bg2"/>
          </a:solidFill>
          <a:ln/>
        </p:spPr>
      </p:sp>
      <p:sp>
        <p:nvSpPr>
          <p:cNvPr id="30" name="icon-circle-94"/>
          <p:cNvSpPr/>
          <p:nvPr/>
        </p:nvSpPr>
        <p:spPr>
          <a:xfrm>
            <a:off x="10083546" y="4434840"/>
            <a:ext cx="457200" cy="457200"/>
          </a:xfrm>
          <a:prstGeom prst="ellipse">
            <a:avLst/>
          </a:prstGeom>
          <a:solidFill>
            <a:schemeClr val="accent1"/>
          </a:solidFill>
          <a:ln/>
        </p:spPr>
      </p:sp>
      <p:pic>
        <p:nvPicPr>
          <p:cNvPr id="31" name="icon-95" descr="preencoded.png">    </p:cNvPr>
          <p:cNvPicPr>
            <a:picLocks noChangeAspect="1"/>
          </p:cNvPicPr>
          <p:nvPr/>
        </p:nvPicPr>
        <p:blipFill>
          <a:blip r:embed="rId7"/>
          <a:stretch>
            <a:fillRect/>
          </a:stretch>
        </p:blipFill>
        <p:spPr>
          <a:xfrm>
            <a:off x="10197846" y="4549140"/>
            <a:ext cx="228600" cy="228600"/>
          </a:xfrm>
          <a:prstGeom prst="rect">
            <a:avLst/>
          </a:prstGeom>
        </p:spPr>
      </p:pic>
      <p:sp>
        <p:nvSpPr>
          <p:cNvPr id="32" name="Text 23"/>
          <p:cNvSpPr txBox="1"/>
          <p:nvPr/>
        </p:nvSpPr>
        <p:spPr>
          <a:xfrm>
            <a:off x="10604754" y="4434840"/>
            <a:ext cx="946861" cy="457200"/>
          </a:xfrm>
          <a:prstGeom prst="rect">
            <a:avLst/>
          </a:prstGeom>
          <a:noFill/>
          <a:ln/>
        </p:spPr>
        <p:txBody>
          <a:bodyPr wrap="square" lIns="0" tIns="0" rIns="0" bIns="0" rtlCol="0" anchor="ctr"/>
          <a:lstStyle/>
          <a:p>
            <a:pPr indent="0" marL="0">
              <a:buNone/>
            </a:pPr>
            <a:r>
              <a:rPr lang="en-US" sz="1400" b="1" dirty="0">
                <a:solidFill>
                  <a:schemeClr val="tx2"/>
                </a:solidFill>
              </a:rPr>
              <a:t>EC2</a:t>
            </a:r>
            <a:endParaRPr lang="en-US" sz="1400" dirty="0"/>
          </a:p>
        </p:txBody>
      </p:sp>
      <p:sp>
        <p:nvSpPr>
          <p:cNvPr id="33" name="Text 24"/>
          <p:cNvSpPr txBox="1"/>
          <p:nvPr/>
        </p:nvSpPr>
        <p:spPr>
          <a:xfrm>
            <a:off x="10083546" y="4983480"/>
            <a:ext cx="1422349" cy="685800"/>
          </a:xfrm>
          <a:prstGeom prst="rect">
            <a:avLst/>
          </a:prstGeom>
          <a:noFill/>
          <a:ln/>
        </p:spPr>
        <p:txBody>
          <a:bodyPr wrap="square" lIns="0" tIns="0" rIns="0" bIns="0" rtlCol="0" anchor="t"/>
          <a:lstStyle/>
          <a:p>
            <a:pPr indent="0" marL="0">
              <a:buNone/>
            </a:pPr>
            <a:r>
              <a:rPr lang="en-US" sz="1200" dirty="0">
                <a:solidFill>
                  <a:schemeClr val="tx1"/>
                </a:solidFill>
              </a:rPr>
              <a:t>Runs the API under systemd</a:t>
            </a:r>
            <a:endParaRPr lang="en-US" sz="1200" dirty="0"/>
          </a:p>
        </p:txBody>
      </p:sp>
      <p:sp>
        <p:nvSpPr>
          <p:cNvPr id="34" name="Text 25"/>
          <p:cNvSpPr txBox="1"/>
          <p:nvPr/>
        </p:nvSpPr>
        <p:spPr>
          <a:xfrm>
            <a:off x="548640" y="5852160"/>
            <a:ext cx="11094415" cy="411480"/>
          </a:xfrm>
          <a:prstGeom prst="rect">
            <a:avLst/>
          </a:prstGeom>
          <a:noFill/>
          <a:ln/>
        </p:spPr>
        <p:txBody>
          <a:bodyPr wrap="square" lIns="0" tIns="0" rIns="0" bIns="0" rtlCol="0" anchor="ctr"/>
          <a:lstStyle/>
          <a:p>
            <a:pPr indent="0" marL="0">
              <a:buNone/>
            </a:pPr>
            <a:r>
              <a:rPr lang="en-US" sz="1500" b="1" dirty="0">
                <a:solidFill>
                  <a:schemeClr val="accent5"/>
                </a:solidFill>
              </a:rPr>
              <a:t>Status: the template passes cfn-lint but has NOT been deployed to a real AWS account yet.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Limitations and future work</a:t>
            </a:r>
            <a:endParaRPr lang="en-US" sz="3200" dirty="0"/>
          </a:p>
        </p:txBody>
      </p:sp>
      <p:sp>
        <p:nvSpPr>
          <p:cNvPr id="3" name="card-96"/>
          <p:cNvSpPr/>
          <p:nvPr/>
        </p:nvSpPr>
        <p:spPr>
          <a:xfrm>
            <a:off x="548640" y="1280160"/>
            <a:ext cx="5364328" cy="1371600"/>
          </a:xfrm>
          <a:prstGeom prst="roundRect">
            <a:avLst>
              <a:gd name="adj" fmla="val 8000"/>
            </a:avLst>
          </a:prstGeom>
          <a:solidFill>
            <a:schemeClr val="bg2"/>
          </a:solidFill>
          <a:ln/>
        </p:spPr>
      </p:sp>
      <p:sp>
        <p:nvSpPr>
          <p:cNvPr id="4" name="icon-circle-97"/>
          <p:cNvSpPr/>
          <p:nvPr/>
        </p:nvSpPr>
        <p:spPr>
          <a:xfrm>
            <a:off x="777240" y="1600200"/>
            <a:ext cx="731520" cy="731520"/>
          </a:xfrm>
          <a:prstGeom prst="ellipse">
            <a:avLst/>
          </a:prstGeom>
          <a:solidFill>
            <a:schemeClr val="accent1"/>
          </a:solidFill>
          <a:ln/>
        </p:spPr>
      </p:sp>
      <p:pic>
        <p:nvPicPr>
          <p:cNvPr id="5" name="icon-98" descr="preencoded.png">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1737360" y="1463040"/>
            <a:ext cx="3992728" cy="411480"/>
          </a:xfrm>
          <a:prstGeom prst="rect">
            <a:avLst/>
          </a:prstGeom>
          <a:noFill/>
          <a:ln/>
        </p:spPr>
        <p:txBody>
          <a:bodyPr wrap="square" lIns="0" tIns="0" rIns="0" bIns="0" rtlCol="0" anchor="ctr"/>
          <a:lstStyle/>
          <a:p>
            <a:pPr indent="0" marL="0">
              <a:buNone/>
            </a:pPr>
            <a:r>
              <a:rPr lang="en-US" sz="1700" b="1" dirty="0">
                <a:solidFill>
                  <a:schemeClr val="tx2"/>
                </a:solidFill>
              </a:rPr>
              <a:t>Real data-center traces</a:t>
            </a:r>
            <a:endParaRPr lang="en-US" sz="1700" dirty="0"/>
          </a:p>
        </p:txBody>
      </p:sp>
      <p:sp>
        <p:nvSpPr>
          <p:cNvPr id="7" name="Text 4"/>
          <p:cNvSpPr txBox="1"/>
          <p:nvPr/>
        </p:nvSpPr>
        <p:spPr>
          <a:xfrm>
            <a:off x="1737360" y="1874520"/>
            <a:ext cx="3992728" cy="731520"/>
          </a:xfrm>
          <a:prstGeom prst="rect">
            <a:avLst/>
          </a:prstGeom>
          <a:noFill/>
          <a:ln/>
        </p:spPr>
        <p:txBody>
          <a:bodyPr wrap="square" lIns="0" tIns="0" rIns="0" bIns="0" rtlCol="0" anchor="t"/>
          <a:lstStyle/>
          <a:p>
            <a:pPr indent="0" marL="0">
              <a:buNone/>
            </a:pPr>
            <a:r>
              <a:rPr lang="en-US" sz="1400" dirty="0">
                <a:solidFill>
                  <a:schemeClr val="tx1"/>
                </a:solidFill>
              </a:rPr>
              <a:t>Replace the building-load proxy with VM or server utilization from a campus data center</a:t>
            </a:r>
            <a:endParaRPr lang="en-US" sz="1400" dirty="0"/>
          </a:p>
        </p:txBody>
      </p:sp>
      <p:sp>
        <p:nvSpPr>
          <p:cNvPr id="8" name="card-99"/>
          <p:cNvSpPr/>
          <p:nvPr/>
        </p:nvSpPr>
        <p:spPr>
          <a:xfrm>
            <a:off x="6278728" y="1280160"/>
            <a:ext cx="5364328" cy="1371600"/>
          </a:xfrm>
          <a:prstGeom prst="roundRect">
            <a:avLst>
              <a:gd name="adj" fmla="val 8000"/>
            </a:avLst>
          </a:prstGeom>
          <a:solidFill>
            <a:schemeClr val="bg2"/>
          </a:solidFill>
          <a:ln/>
        </p:spPr>
      </p:sp>
      <p:sp>
        <p:nvSpPr>
          <p:cNvPr id="9" name="icon-circle-100"/>
          <p:cNvSpPr/>
          <p:nvPr/>
        </p:nvSpPr>
        <p:spPr>
          <a:xfrm>
            <a:off x="6507328" y="1600200"/>
            <a:ext cx="731520" cy="731520"/>
          </a:xfrm>
          <a:prstGeom prst="ellipse">
            <a:avLst/>
          </a:prstGeom>
          <a:solidFill>
            <a:schemeClr val="accent1"/>
          </a:solidFill>
          <a:ln/>
        </p:spPr>
      </p:sp>
      <p:pic>
        <p:nvPicPr>
          <p:cNvPr id="10" name="icon-101" descr="preencoded.png">    </p:cNvPr>
          <p:cNvPicPr>
            <a:picLocks noChangeAspect="1"/>
          </p:cNvPicPr>
          <p:nvPr/>
        </p:nvPicPr>
        <p:blipFill>
          <a:blip r:embed="rId2"/>
          <a:stretch>
            <a:fillRect/>
          </a:stretch>
        </p:blipFill>
        <p:spPr>
          <a:xfrm>
            <a:off x="6690208" y="1783080"/>
            <a:ext cx="365760" cy="365760"/>
          </a:xfrm>
          <a:prstGeom prst="rect">
            <a:avLst/>
          </a:prstGeom>
        </p:spPr>
      </p:pic>
      <p:sp>
        <p:nvSpPr>
          <p:cNvPr id="11" name="Text 7"/>
          <p:cNvSpPr txBox="1"/>
          <p:nvPr/>
        </p:nvSpPr>
        <p:spPr>
          <a:xfrm>
            <a:off x="7467448" y="1463040"/>
            <a:ext cx="3992728" cy="411480"/>
          </a:xfrm>
          <a:prstGeom prst="rect">
            <a:avLst/>
          </a:prstGeom>
          <a:noFill/>
          <a:ln/>
        </p:spPr>
        <p:txBody>
          <a:bodyPr wrap="square" lIns="0" tIns="0" rIns="0" bIns="0" rtlCol="0" anchor="ctr"/>
          <a:lstStyle/>
          <a:p>
            <a:pPr indent="0" marL="0">
              <a:buNone/>
            </a:pPr>
            <a:r>
              <a:rPr lang="en-US" sz="1700" b="1" dirty="0">
                <a:solidFill>
                  <a:schemeClr val="tx2"/>
                </a:solidFill>
              </a:rPr>
              <a:t>Local grid data</a:t>
            </a:r>
            <a:endParaRPr lang="en-US" sz="1700" dirty="0"/>
          </a:p>
        </p:txBody>
      </p:sp>
      <p:sp>
        <p:nvSpPr>
          <p:cNvPr id="12" name="Text 8"/>
          <p:cNvSpPr txBox="1"/>
          <p:nvPr/>
        </p:nvSpPr>
        <p:spPr>
          <a:xfrm>
            <a:off x="7467448" y="1874520"/>
            <a:ext cx="3992728" cy="731520"/>
          </a:xfrm>
          <a:prstGeom prst="rect">
            <a:avLst/>
          </a:prstGeom>
          <a:noFill/>
          <a:ln/>
        </p:spPr>
        <p:txBody>
          <a:bodyPr wrap="square" lIns="0" tIns="0" rIns="0" bIns="0" rtlCol="0" anchor="t"/>
          <a:lstStyle/>
          <a:p>
            <a:pPr indent="0" marL="0">
              <a:buNone/>
            </a:pPr>
            <a:r>
              <a:rPr lang="en-US" sz="1400" dirty="0">
                <a:solidFill>
                  <a:schemeClr val="tx1"/>
                </a:solidFill>
              </a:rPr>
              <a:t>Use Thailand's (or India's) hourly grid carbon intensity instead of the UK grid</a:t>
            </a:r>
            <a:endParaRPr lang="en-US" sz="1400" dirty="0"/>
          </a:p>
        </p:txBody>
      </p:sp>
      <p:sp>
        <p:nvSpPr>
          <p:cNvPr id="13" name="card-102"/>
          <p:cNvSpPr/>
          <p:nvPr/>
        </p:nvSpPr>
        <p:spPr>
          <a:xfrm>
            <a:off x="548640" y="2880360"/>
            <a:ext cx="5364328" cy="1371600"/>
          </a:xfrm>
          <a:prstGeom prst="roundRect">
            <a:avLst>
              <a:gd name="adj" fmla="val 8000"/>
            </a:avLst>
          </a:prstGeom>
          <a:solidFill>
            <a:schemeClr val="bg2"/>
          </a:solidFill>
          <a:ln/>
        </p:spPr>
      </p:sp>
      <p:sp>
        <p:nvSpPr>
          <p:cNvPr id="14" name="icon-circle-103"/>
          <p:cNvSpPr/>
          <p:nvPr/>
        </p:nvSpPr>
        <p:spPr>
          <a:xfrm>
            <a:off x="777240" y="3200400"/>
            <a:ext cx="731520" cy="731520"/>
          </a:xfrm>
          <a:prstGeom prst="ellipse">
            <a:avLst/>
          </a:prstGeom>
          <a:solidFill>
            <a:schemeClr val="accent1"/>
          </a:solidFill>
          <a:ln/>
        </p:spPr>
      </p:sp>
      <p:pic>
        <p:nvPicPr>
          <p:cNvPr id="15" name="icon-104" descr="preencoded.png">    </p:cNvPr>
          <p:cNvPicPr>
            <a:picLocks noChangeAspect="1"/>
          </p:cNvPicPr>
          <p:nvPr/>
        </p:nvPicPr>
        <p:blipFill>
          <a:blip r:embed="rId3"/>
          <a:stretch>
            <a:fillRect/>
          </a:stretch>
        </p:blipFill>
        <p:spPr>
          <a:xfrm>
            <a:off x="960120" y="3383280"/>
            <a:ext cx="365760" cy="365760"/>
          </a:xfrm>
          <a:prstGeom prst="rect">
            <a:avLst/>
          </a:prstGeom>
        </p:spPr>
      </p:pic>
      <p:sp>
        <p:nvSpPr>
          <p:cNvPr id="16" name="Text 11"/>
          <p:cNvSpPr txBox="1"/>
          <p:nvPr/>
        </p:nvSpPr>
        <p:spPr>
          <a:xfrm>
            <a:off x="1737360" y="3063240"/>
            <a:ext cx="3992728" cy="411480"/>
          </a:xfrm>
          <a:prstGeom prst="rect">
            <a:avLst/>
          </a:prstGeom>
          <a:noFill/>
          <a:ln/>
        </p:spPr>
        <p:txBody>
          <a:bodyPr wrap="square" lIns="0" tIns="0" rIns="0" bIns="0" rtlCol="0" anchor="ctr"/>
          <a:lstStyle/>
          <a:p>
            <a:pPr indent="0" marL="0">
              <a:buNone/>
            </a:pPr>
            <a:r>
              <a:rPr lang="en-US" sz="1700" b="1" dirty="0">
                <a:solidFill>
                  <a:schemeClr val="tx2"/>
                </a:solidFill>
              </a:rPr>
              <a:t>HTTPS everywhere</a:t>
            </a:r>
            <a:endParaRPr lang="en-US" sz="1700" dirty="0"/>
          </a:p>
        </p:txBody>
      </p:sp>
      <p:sp>
        <p:nvSpPr>
          <p:cNvPr id="17" name="Text 12"/>
          <p:cNvSpPr txBox="1"/>
          <p:nvPr/>
        </p:nvSpPr>
        <p:spPr>
          <a:xfrm>
            <a:off x="1737360" y="3474720"/>
            <a:ext cx="3992728" cy="731520"/>
          </a:xfrm>
          <a:prstGeom prst="rect">
            <a:avLst/>
          </a:prstGeom>
          <a:noFill/>
          <a:ln/>
        </p:spPr>
        <p:txBody>
          <a:bodyPr wrap="square" lIns="0" tIns="0" rIns="0" bIns="0" rtlCol="0" anchor="t"/>
          <a:lstStyle/>
          <a:p>
            <a:pPr indent="0" marL="0">
              <a:buNone/>
            </a:pPr>
            <a:r>
              <a:rPr lang="en-US" sz="1400" dirty="0">
                <a:solidFill>
                  <a:schemeClr val="tx1"/>
                </a:solidFill>
              </a:rPr>
              <a:t>CloudFront for the dashboard; ALB or API Gateway for the API (today both are plain HTTP)</a:t>
            </a:r>
            <a:endParaRPr lang="en-US" sz="1400" dirty="0"/>
          </a:p>
        </p:txBody>
      </p:sp>
      <p:sp>
        <p:nvSpPr>
          <p:cNvPr id="18" name="card-105"/>
          <p:cNvSpPr/>
          <p:nvPr/>
        </p:nvSpPr>
        <p:spPr>
          <a:xfrm>
            <a:off x="6278728" y="2880360"/>
            <a:ext cx="5364328" cy="1371600"/>
          </a:xfrm>
          <a:prstGeom prst="roundRect">
            <a:avLst>
              <a:gd name="adj" fmla="val 8000"/>
            </a:avLst>
          </a:prstGeom>
          <a:solidFill>
            <a:schemeClr val="bg2"/>
          </a:solidFill>
          <a:ln/>
        </p:spPr>
      </p:sp>
      <p:sp>
        <p:nvSpPr>
          <p:cNvPr id="19" name="icon-circle-106"/>
          <p:cNvSpPr/>
          <p:nvPr/>
        </p:nvSpPr>
        <p:spPr>
          <a:xfrm>
            <a:off x="6507328" y="3200400"/>
            <a:ext cx="731520" cy="731520"/>
          </a:xfrm>
          <a:prstGeom prst="ellipse">
            <a:avLst/>
          </a:prstGeom>
          <a:solidFill>
            <a:schemeClr val="accent1"/>
          </a:solidFill>
          <a:ln/>
        </p:spPr>
      </p:sp>
      <p:pic>
        <p:nvPicPr>
          <p:cNvPr id="20" name="icon-107" descr="preencoded.png">    </p:cNvPr>
          <p:cNvPicPr>
            <a:picLocks noChangeAspect="1"/>
          </p:cNvPicPr>
          <p:nvPr/>
        </p:nvPicPr>
        <p:blipFill>
          <a:blip r:embed="rId4"/>
          <a:stretch>
            <a:fillRect/>
          </a:stretch>
        </p:blipFill>
        <p:spPr>
          <a:xfrm>
            <a:off x="6690208" y="3383280"/>
            <a:ext cx="365760" cy="365760"/>
          </a:xfrm>
          <a:prstGeom prst="rect">
            <a:avLst/>
          </a:prstGeom>
        </p:spPr>
      </p:pic>
      <p:sp>
        <p:nvSpPr>
          <p:cNvPr id="21" name="Text 15"/>
          <p:cNvSpPr txBox="1"/>
          <p:nvPr/>
        </p:nvSpPr>
        <p:spPr>
          <a:xfrm>
            <a:off x="7467448" y="3063240"/>
            <a:ext cx="3992728" cy="411480"/>
          </a:xfrm>
          <a:prstGeom prst="rect">
            <a:avLst/>
          </a:prstGeom>
          <a:noFill/>
          <a:ln/>
        </p:spPr>
        <p:txBody>
          <a:bodyPr wrap="square" lIns="0" tIns="0" rIns="0" bIns="0" rtlCol="0" anchor="ctr"/>
          <a:lstStyle/>
          <a:p>
            <a:pPr indent="0" marL="0">
              <a:buNone/>
            </a:pPr>
            <a:r>
              <a:rPr lang="en-US" sz="1700" b="1" dirty="0">
                <a:solidFill>
                  <a:schemeClr val="tx2"/>
                </a:solidFill>
              </a:rPr>
              <a:t>SageMaker endpoint</a:t>
            </a:r>
            <a:endParaRPr lang="en-US" sz="1700" dirty="0"/>
          </a:p>
        </p:txBody>
      </p:sp>
      <p:sp>
        <p:nvSpPr>
          <p:cNvPr id="22" name="Text 16"/>
          <p:cNvSpPr txBox="1"/>
          <p:nvPr/>
        </p:nvSpPr>
        <p:spPr>
          <a:xfrm>
            <a:off x="7467448" y="3474720"/>
            <a:ext cx="3992728" cy="731520"/>
          </a:xfrm>
          <a:prstGeom prst="rect">
            <a:avLst/>
          </a:prstGeom>
          <a:noFill/>
          <a:ln/>
        </p:spPr>
        <p:txBody>
          <a:bodyPr wrap="square" lIns="0" tIns="0" rIns="0" bIns="0" rtlCol="0" anchor="t"/>
          <a:lstStyle/>
          <a:p>
            <a:pPr indent="0" marL="0">
              <a:buNone/>
            </a:pPr>
            <a:r>
              <a:rPr lang="en-US" sz="1400" dirty="0">
                <a:solidFill>
                  <a:schemeClr val="tx1"/>
                </a:solidFill>
              </a:rPr>
              <a:t>Host the model and run the scheduler on a schedule with EventBridge and Lambda</a:t>
            </a:r>
            <a:endParaRPr lang="en-US" sz="1400" dirty="0"/>
          </a:p>
        </p:txBody>
      </p:sp>
      <p:sp>
        <p:nvSpPr>
          <p:cNvPr id="23" name="card-108"/>
          <p:cNvSpPr/>
          <p:nvPr/>
        </p:nvSpPr>
        <p:spPr>
          <a:xfrm>
            <a:off x="548640" y="4480560"/>
            <a:ext cx="5364328" cy="1371600"/>
          </a:xfrm>
          <a:prstGeom prst="roundRect">
            <a:avLst>
              <a:gd name="adj" fmla="val 8000"/>
            </a:avLst>
          </a:prstGeom>
          <a:solidFill>
            <a:schemeClr val="bg2"/>
          </a:solidFill>
          <a:ln/>
        </p:spPr>
      </p:sp>
      <p:sp>
        <p:nvSpPr>
          <p:cNvPr id="24" name="icon-circle-109"/>
          <p:cNvSpPr/>
          <p:nvPr/>
        </p:nvSpPr>
        <p:spPr>
          <a:xfrm>
            <a:off x="777240" y="4800600"/>
            <a:ext cx="731520" cy="731520"/>
          </a:xfrm>
          <a:prstGeom prst="ellipse">
            <a:avLst/>
          </a:prstGeom>
          <a:solidFill>
            <a:schemeClr val="accent1"/>
          </a:solidFill>
          <a:ln/>
        </p:spPr>
      </p:sp>
      <p:pic>
        <p:nvPicPr>
          <p:cNvPr id="25" name="icon-110" descr="preencoded.png">    </p:cNvPr>
          <p:cNvPicPr>
            <a:picLocks noChangeAspect="1"/>
          </p:cNvPicPr>
          <p:nvPr/>
        </p:nvPicPr>
        <p:blipFill>
          <a:blip r:embed="rId5"/>
          <a:stretch>
            <a:fillRect/>
          </a:stretch>
        </p:blipFill>
        <p:spPr>
          <a:xfrm>
            <a:off x="960120" y="4983480"/>
            <a:ext cx="365760" cy="365760"/>
          </a:xfrm>
          <a:prstGeom prst="rect">
            <a:avLst/>
          </a:prstGeom>
        </p:spPr>
      </p:pic>
      <p:sp>
        <p:nvSpPr>
          <p:cNvPr id="26" name="Text 19"/>
          <p:cNvSpPr txBox="1"/>
          <p:nvPr/>
        </p:nvSpPr>
        <p:spPr>
          <a:xfrm>
            <a:off x="1737360" y="4663440"/>
            <a:ext cx="3992728" cy="411480"/>
          </a:xfrm>
          <a:prstGeom prst="rect">
            <a:avLst/>
          </a:prstGeom>
          <a:noFill/>
          <a:ln/>
        </p:spPr>
        <p:txBody>
          <a:bodyPr wrap="square" lIns="0" tIns="0" rIns="0" bIns="0" rtlCol="0" anchor="ctr"/>
          <a:lstStyle/>
          <a:p>
            <a:pPr indent="0" marL="0">
              <a:buNone/>
            </a:pPr>
            <a:r>
              <a:rPr lang="en-US" sz="1700" b="1" dirty="0">
                <a:solidFill>
                  <a:schemeClr val="tx2"/>
                </a:solidFill>
              </a:rPr>
              <a:t>Live deployment</a:t>
            </a:r>
            <a:endParaRPr lang="en-US" sz="1700" dirty="0"/>
          </a:p>
        </p:txBody>
      </p:sp>
      <p:sp>
        <p:nvSpPr>
          <p:cNvPr id="27" name="Text 20"/>
          <p:cNvSpPr txBox="1"/>
          <p:nvPr/>
        </p:nvSpPr>
        <p:spPr>
          <a:xfrm>
            <a:off x="1737360" y="5074920"/>
            <a:ext cx="3992728" cy="731520"/>
          </a:xfrm>
          <a:prstGeom prst="rect">
            <a:avLst/>
          </a:prstGeom>
          <a:noFill/>
          <a:ln/>
        </p:spPr>
        <p:txBody>
          <a:bodyPr wrap="square" lIns="0" tIns="0" rIns="0" bIns="0" rtlCol="0" anchor="t"/>
          <a:lstStyle/>
          <a:p>
            <a:pPr indent="0" marL="0">
              <a:buNone/>
            </a:pPr>
            <a:r>
              <a:rPr lang="en-US" sz="1400" dirty="0">
                <a:solidFill>
                  <a:schemeClr val="tx1"/>
                </a:solidFill>
              </a:rPr>
              <a:t>Deploy the stack, connect real meters, and measure savings rather than simulate them</a:t>
            </a:r>
            <a:endParaRPr lang="en-US" sz="1400" dirty="0"/>
          </a:p>
        </p:txBody>
      </p:sp>
      <p:sp>
        <p:nvSpPr>
          <p:cNvPr id="28" name="card-111"/>
          <p:cNvSpPr/>
          <p:nvPr/>
        </p:nvSpPr>
        <p:spPr>
          <a:xfrm>
            <a:off x="6278728" y="4480560"/>
            <a:ext cx="5364328" cy="1371600"/>
          </a:xfrm>
          <a:prstGeom prst="roundRect">
            <a:avLst>
              <a:gd name="adj" fmla="val 8000"/>
            </a:avLst>
          </a:prstGeom>
          <a:solidFill>
            <a:schemeClr val="bg2"/>
          </a:solidFill>
          <a:ln/>
        </p:spPr>
      </p:sp>
      <p:sp>
        <p:nvSpPr>
          <p:cNvPr id="29" name="icon-circle-112"/>
          <p:cNvSpPr/>
          <p:nvPr/>
        </p:nvSpPr>
        <p:spPr>
          <a:xfrm>
            <a:off x="6507328" y="4800600"/>
            <a:ext cx="731520" cy="731520"/>
          </a:xfrm>
          <a:prstGeom prst="ellipse">
            <a:avLst/>
          </a:prstGeom>
          <a:solidFill>
            <a:schemeClr val="accent1"/>
          </a:solidFill>
          <a:ln/>
        </p:spPr>
      </p:sp>
      <p:pic>
        <p:nvPicPr>
          <p:cNvPr id="30" name="icon-113" descr="preencoded.png">    </p:cNvPr>
          <p:cNvPicPr>
            <a:picLocks noChangeAspect="1"/>
          </p:cNvPicPr>
          <p:nvPr/>
        </p:nvPicPr>
        <p:blipFill>
          <a:blip r:embed="rId6"/>
          <a:stretch>
            <a:fillRect/>
          </a:stretch>
        </p:blipFill>
        <p:spPr>
          <a:xfrm>
            <a:off x="6690208" y="4983480"/>
            <a:ext cx="365760" cy="365760"/>
          </a:xfrm>
          <a:prstGeom prst="rect">
            <a:avLst/>
          </a:prstGeom>
        </p:spPr>
      </p:pic>
      <p:sp>
        <p:nvSpPr>
          <p:cNvPr id="31" name="Text 23"/>
          <p:cNvSpPr txBox="1"/>
          <p:nvPr/>
        </p:nvSpPr>
        <p:spPr>
          <a:xfrm>
            <a:off x="7467448" y="4663440"/>
            <a:ext cx="3992728" cy="411480"/>
          </a:xfrm>
          <a:prstGeom prst="rect">
            <a:avLst/>
          </a:prstGeom>
          <a:noFill/>
          <a:ln/>
        </p:spPr>
        <p:txBody>
          <a:bodyPr wrap="square" lIns="0" tIns="0" rIns="0" bIns="0" rtlCol="0" anchor="ctr"/>
          <a:lstStyle/>
          <a:p>
            <a:pPr indent="0" marL="0">
              <a:buNone/>
            </a:pPr>
            <a:r>
              <a:rPr lang="en-US" sz="1700" b="1" dirty="0">
                <a:solidFill>
                  <a:schemeClr val="tx2"/>
                </a:solidFill>
              </a:rPr>
              <a:t>Academic calendar</a:t>
            </a:r>
            <a:endParaRPr lang="en-US" sz="1700" dirty="0"/>
          </a:p>
        </p:txBody>
      </p:sp>
      <p:sp>
        <p:nvSpPr>
          <p:cNvPr id="32" name="Text 24"/>
          <p:cNvSpPr txBox="1"/>
          <p:nvPr/>
        </p:nvSpPr>
        <p:spPr>
          <a:xfrm>
            <a:off x="7467448" y="5074920"/>
            <a:ext cx="3992728" cy="731520"/>
          </a:xfrm>
          <a:prstGeom prst="rect">
            <a:avLst/>
          </a:prstGeom>
          <a:noFill/>
          <a:ln/>
        </p:spPr>
        <p:txBody>
          <a:bodyPr wrap="square" lIns="0" tIns="0" rIns="0" bIns="0" rtlCol="0" anchor="t"/>
          <a:lstStyle/>
          <a:p>
            <a:pPr indent="0" marL="0">
              <a:buNone/>
            </a:pPr>
            <a:r>
              <a:rPr lang="en-US" sz="1400" dirty="0">
                <a:solidFill>
                  <a:schemeClr val="tx1"/>
                </a:solidFill>
              </a:rPr>
              <a:t>Add semester, exam and break dates as features alongside public holidays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280160"/>
          </a:xfrm>
          <a:prstGeom prst="rect">
            <a:avLst/>
          </a:prstGeom>
          <a:noFill/>
          <a:ln/>
        </p:spPr>
        <p:txBody>
          <a:bodyPr wrap="square" rtlCol="0" anchor="b"/>
          <a:lstStyle/>
          <a:p>
            <a:pPr algn="l" indent="0" marL="0">
              <a:buNone/>
            </a:pPr>
            <a:r>
              <a:rPr lang="en-US" sz="4400" b="1" dirty="0">
                <a:solidFill>
                  <a:schemeClr val="bg1"/>
                </a:solidFill>
              </a:rPr>
              <a:t>Thank you</a:t>
            </a:r>
            <a:endParaRPr lang="en-US" sz="4400" dirty="0"/>
          </a:p>
        </p:txBody>
      </p:sp>
      <p:sp>
        <p:nvSpPr>
          <p:cNvPr id="3" name="Text 0"/>
          <p:cNvSpPr/>
          <p:nvPr>
            <p:ph idx="101" type="body" hasCustomPrompt="1"/>
          </p:nvPr>
        </p:nvSpPr>
        <p:spPr>
          <a:xfrm>
            <a:off x="548640" y="3520440"/>
            <a:ext cx="11094415" cy="1097280"/>
          </a:xfrm>
          <a:prstGeom prst="rect">
            <a:avLst/>
          </a:prstGeom>
          <a:noFill/>
          <a:ln/>
        </p:spPr>
        <p:txBody>
          <a:bodyPr wrap="square" rtlCol="0" anchor="t"/>
          <a:lstStyle/>
          <a:p>
            <a:pPr algn="l" indent="0" marL="0">
              <a:buNone/>
            </a:pPr>
            <a:r>
              <a:rPr lang="en-US" sz="2000" dirty="0">
                <a:solidFill>
                  <a:schemeClr val="accent6"/>
                </a:solidFill>
              </a:rPr>
              <a:t>Questions welcome</a:t>
            </a:r>
            <a:endParaRPr lang="en-US" sz="2000" dirty="0"/>
          </a:p>
        </p:txBody>
      </p:sp>
      <p:sp>
        <p:nvSpPr>
          <p:cNvPr id="4" name="team-card-114"/>
          <p:cNvSpPr/>
          <p:nvPr/>
        </p:nvSpPr>
        <p:spPr>
          <a:xfrm>
            <a:off x="548640" y="4663440"/>
            <a:ext cx="3484778" cy="1508760"/>
          </a:xfrm>
          <a:prstGeom prst="roundRect">
            <a:avLst>
              <a:gd name="adj" fmla="val 7273"/>
            </a:avLst>
          </a:prstGeom>
          <a:solidFill>
            <a:schemeClr val="bg1">
              <a:alpha val="12000"/>
            </a:schemeClr>
          </a:solidFill>
          <a:ln/>
        </p:spPr>
      </p:sp>
      <p:sp>
        <p:nvSpPr>
          <p:cNvPr id="5" name="Text 3"/>
          <p:cNvSpPr txBox="1"/>
          <p:nvPr/>
        </p:nvSpPr>
        <p:spPr>
          <a:xfrm>
            <a:off x="777240" y="4754880"/>
            <a:ext cx="3027578" cy="13258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Pranav Hasban</a:t>
            </a:r>
            <a:endParaRPr lang="en-US" sz="1700" dirty="0"/>
          </a:p>
          <a:p>
            <a:pPr indent="0" marL="0">
              <a:spcAft>
                <a:spcPts val="300"/>
              </a:spcAft>
              <a:buNone/>
            </a:pPr>
            <a:r>
              <a:rPr lang="en-US" sz="1200" dirty="0">
                <a:solidFill>
                  <a:schemeClr val="accent6"/>
                </a:solidFill>
              </a:rPr>
              <a:t>24BIT0537</a:t>
            </a:r>
            <a:endParaRPr lang="en-US" sz="1700" dirty="0"/>
          </a:p>
          <a:p>
            <a:pPr indent="0" marL="0">
              <a:spcAft>
                <a:spcPts val="300"/>
              </a:spcAft>
              <a:buNone/>
            </a:pPr>
            <a:r>
              <a:rPr lang="en-US" sz="1300" dirty="0">
                <a:solidFill>
                  <a:schemeClr val="bg1"/>
                </a:solidFill>
              </a:rPr>
              <a:t>Frontend: React dashboard, Cognito sign-in, live API integration</a:t>
            </a:r>
            <a:endParaRPr lang="en-US" sz="1700" dirty="0"/>
          </a:p>
        </p:txBody>
      </p:sp>
      <p:sp>
        <p:nvSpPr>
          <p:cNvPr id="6" name="team-card-115"/>
          <p:cNvSpPr/>
          <p:nvPr/>
        </p:nvSpPr>
        <p:spPr>
          <a:xfrm>
            <a:off x="4353458" y="4663440"/>
            <a:ext cx="3484778" cy="1508760"/>
          </a:xfrm>
          <a:prstGeom prst="roundRect">
            <a:avLst>
              <a:gd name="adj" fmla="val 7273"/>
            </a:avLst>
          </a:prstGeom>
          <a:solidFill>
            <a:schemeClr val="bg1">
              <a:alpha val="12000"/>
            </a:schemeClr>
          </a:solidFill>
          <a:ln/>
        </p:spPr>
      </p:sp>
      <p:sp>
        <p:nvSpPr>
          <p:cNvPr id="7" name="Text 5"/>
          <p:cNvSpPr txBox="1"/>
          <p:nvPr/>
        </p:nvSpPr>
        <p:spPr>
          <a:xfrm>
            <a:off x="4582058" y="4754880"/>
            <a:ext cx="3027578" cy="13258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Prakul Jain</a:t>
            </a:r>
            <a:endParaRPr lang="en-US" sz="1700" dirty="0"/>
          </a:p>
          <a:p>
            <a:pPr indent="0" marL="0">
              <a:spcAft>
                <a:spcPts val="300"/>
              </a:spcAft>
              <a:buNone/>
            </a:pPr>
            <a:r>
              <a:rPr lang="en-US" sz="1200" dirty="0">
                <a:solidFill>
                  <a:schemeClr val="accent6"/>
                </a:solidFill>
              </a:rPr>
              <a:t>24BIT0548</a:t>
            </a:r>
            <a:endParaRPr lang="en-US" sz="1700" dirty="0"/>
          </a:p>
          <a:p>
            <a:pPr indent="0" marL="0">
              <a:spcAft>
                <a:spcPts val="300"/>
              </a:spcAft>
              <a:buNone/>
            </a:pPr>
            <a:r>
              <a:rPr lang="en-US" sz="1300" dirty="0">
                <a:solidFill>
                  <a:schemeClr val="bg1"/>
                </a:solidFill>
              </a:rPr>
              <a:t>Backend &amp; database: REST API, DynamoDB, authentication</a:t>
            </a:r>
            <a:endParaRPr lang="en-US" sz="1700" dirty="0"/>
          </a:p>
        </p:txBody>
      </p:sp>
      <p:sp>
        <p:nvSpPr>
          <p:cNvPr id="8" name="team-card-116"/>
          <p:cNvSpPr/>
          <p:nvPr/>
        </p:nvSpPr>
        <p:spPr>
          <a:xfrm>
            <a:off x="8158277" y="4663440"/>
            <a:ext cx="3484778" cy="1508760"/>
          </a:xfrm>
          <a:prstGeom prst="roundRect">
            <a:avLst>
              <a:gd name="adj" fmla="val 7273"/>
            </a:avLst>
          </a:prstGeom>
          <a:solidFill>
            <a:schemeClr val="bg1">
              <a:alpha val="12000"/>
            </a:schemeClr>
          </a:solidFill>
          <a:ln/>
        </p:spPr>
      </p:sp>
      <p:sp>
        <p:nvSpPr>
          <p:cNvPr id="9" name="Text 7"/>
          <p:cNvSpPr txBox="1"/>
          <p:nvPr/>
        </p:nvSpPr>
        <p:spPr>
          <a:xfrm>
            <a:off x="8386877" y="4754880"/>
            <a:ext cx="3027578" cy="13258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Agrani Anupam</a:t>
            </a:r>
            <a:endParaRPr lang="en-US" sz="1700" dirty="0"/>
          </a:p>
          <a:p>
            <a:pPr indent="0" marL="0">
              <a:spcAft>
                <a:spcPts val="300"/>
              </a:spcAft>
              <a:buNone/>
            </a:pPr>
            <a:r>
              <a:rPr lang="en-US" sz="1200" dirty="0">
                <a:solidFill>
                  <a:schemeClr val="accent6"/>
                </a:solidFill>
              </a:rPr>
              <a:t>24BIT0539</a:t>
            </a:r>
            <a:endParaRPr lang="en-US" sz="1700" dirty="0"/>
          </a:p>
          <a:p>
            <a:pPr indent="0" marL="0">
              <a:spcAft>
                <a:spcPts val="300"/>
              </a:spcAft>
              <a:buNone/>
            </a:pPr>
            <a:r>
              <a:rPr lang="en-US" sz="1300" dirty="0">
                <a:solidFill>
                  <a:schemeClr val="bg1"/>
                </a:solidFill>
              </a:rPr>
              <a:t>AI / ML: dataset, preprocessing, demand-forecasting model</a:t>
            </a:r>
            <a:endParaRPr lang="en-US" sz="1700" dirty="0"/>
          </a:p>
        </p:txBody>
      </p:sp>
      <p:sp>
        <p:nvSpPr>
          <p:cNvPr id="10" name="Text 8"/>
          <p:cNvSpPr txBox="1"/>
          <p:nvPr/>
        </p:nvSpPr>
        <p:spPr>
          <a:xfrm>
            <a:off x="548640" y="6263640"/>
            <a:ext cx="11094415" cy="320040"/>
          </a:xfrm>
          <a:prstGeom prst="rect">
            <a:avLst/>
          </a:prstGeom>
          <a:noFill/>
          <a:ln/>
        </p:spPr>
        <p:txBody>
          <a:bodyPr wrap="square" lIns="0" tIns="0" rIns="0" bIns="0" rtlCol="0" anchor="ctr"/>
          <a:lstStyle/>
          <a:p>
            <a:pPr indent="0" marL="0">
              <a:buNone/>
            </a:pPr>
            <a:r>
              <a:rPr lang="en-US" sz="1100" dirty="0">
                <a:solidFill>
                  <a:schemeClr val="accent6"/>
                </a:solidFill>
              </a:rPr>
              <a:t>Data: CU-BEMS (Chulalongkorn University, CC BY 4.0); Carbon Intensity API (National Grid ESO, CC BY 4.0)</a:t>
            </a:r>
            <a:endParaRPr lang="en-US" sz="1100" dirty="0"/>
          </a:p>
        </p:txBody>
      </p:sp>
    </p:spTree>
  </p:cSld>
  <p:clrMapOvr>
    <a:masterClrMapping/>
  </p:clrMapOvr>
</p:sld>
</file>

<file path=ppt/theme/theme1.xml><?xml version="1.0" encoding="utf-8"?>
<a:theme xmlns:a="http://schemas.openxmlformats.org/drawingml/2006/main" name="AURA Green Cloud">
  <a:themeElements>
    <a:clrScheme name="AURA Green Cloud">
      <a:dk1>
        <a:srgbClr val="1B2A26"/>
      </a:dk1>
      <a:lt1>
        <a:srgbClr val="FFFFFF"/>
      </a:lt1>
      <a:dk2>
        <a:srgbClr val="0F3B33"/>
      </a:dk2>
      <a:lt2>
        <a:srgbClr val="EDF4F1"/>
      </a:lt2>
      <a:accent1>
        <a:srgbClr val="1F8A70"/>
      </a:accent1>
      <a:accent2>
        <a:srgbClr val="E8A33D"/>
      </a:accent2>
      <a:accent3>
        <a:srgbClr val="4C6EF5"/>
      </a:accent3>
      <a:accent4>
        <a:srgbClr val="8A9A94"/>
      </a:accent4>
      <a:accent5>
        <a:srgbClr val="C8553D"/>
      </a:accent5>
      <a:accent6>
        <a:srgbClr val="7FB7A4"/>
      </a:accent6>
      <a:hlink>
        <a:srgbClr val="1F8A70"/>
      </a:hlink>
      <a:folHlink>
        <a:srgbClr val="0F3B33"/>
      </a:folHlink>
    </a:clrScheme>
    <a:fontScheme name="AURA Green Clou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AURA - Autonomous University Resource Allocator</dc:title>
  <dc:subject>PptxGenJS Presentation</dc:subject>
  <dc:creator>AURA team</dc:creator>
  <cp:lastModifiedBy>AURA team</cp:lastModifiedBy>
  <cp:revision>1</cp:revision>
  <dcterms:created xsi:type="dcterms:W3CDTF">2026-10-13T18:11:43Z</dcterms:created>
  <dcterms:modified xsi:type="dcterms:W3CDTF">2026-10-13T18:11:43Z</dcterms:modified>
</cp:coreProperties>
</file>